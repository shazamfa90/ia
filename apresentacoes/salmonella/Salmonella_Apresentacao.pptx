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01"/>
    <p:sldId id="257" r:id="rId102"/>
    <p:sldId id="258" r:id="rId103"/>
    <p:sldId id="259" r:id="rId104"/>
    <p:sldId id="260" r:id="rId105"/>
    <p:sldId id="261" r:id="rId106"/>
    <p:sldId id="262" r:id="rId107"/>
    <p:sldId id="263" r:id="rId108"/>
    <p:sldId id="264" r:id="rId109"/>
    <p:sldId id="265" r:id="rId110"/>
    <p:sldId id="266" r:id="rId111"/>
    <p:sldId id="267" r:id="rId112"/>
    <p:sldId id="268" r:id="rId113"/>
    <p:sldId id="269" r:id="rId114"/>
    <p:sldId id="270" r:id="rId115"/>
  </p:sldIdLst>
  <p:sldSz cx="18288000" cy="10287000"/>
  <p:notesSz cx="6858000" cy="9144000"/>
  <p:embeddedFontLst>
    <p:embeddedFont>
      <p:font typeface="Lilita One" charset="1" panose="02000000000000000000"/>
      <p:regular r:id="rId16"/>
    </p:embeddedFont>
    <p:embeddedFont>
      <p:font typeface="Garet" charset="1" panose="00000000000000000000"/>
      <p:regular r:id="rId17"/>
    </p:embeddedFont>
    <p:embeddedFont>
      <p:font typeface="Garet Light" charset="1" panose="00000000000000000000"/>
      <p:regular r:id="rId18"/>
    </p:embeddedFont>
    <p:embeddedFont>
      <p:font typeface="Garet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101" Target="slides/slide1.xml" Type="http://schemas.openxmlformats.org/officeDocument/2006/relationships/slide"/><Relationship Id="rId102" Target="slides/slide2.xml" Type="http://schemas.openxmlformats.org/officeDocument/2006/relationships/slide"/><Relationship Id="rId103" Target="slides/slide3.xml" Type="http://schemas.openxmlformats.org/officeDocument/2006/relationships/slide"/><Relationship Id="rId104" Target="slides/slide4.xml" Type="http://schemas.openxmlformats.org/officeDocument/2006/relationships/slide"/><Relationship Id="rId105" Target="slides/slide5.xml" Type="http://schemas.openxmlformats.org/officeDocument/2006/relationships/slide"/><Relationship Id="rId106" Target="slides/slide6.xml" Type="http://schemas.openxmlformats.org/officeDocument/2006/relationships/slide"/><Relationship Id="rId107" Target="slides/slide7.xml" Type="http://schemas.openxmlformats.org/officeDocument/2006/relationships/slide"/><Relationship Id="rId108" Target="slides/slide8.xml" Type="http://schemas.openxmlformats.org/officeDocument/2006/relationships/slide"/><Relationship Id="rId109" Target="slides/slide9.xml" Type="http://schemas.openxmlformats.org/officeDocument/2006/relationships/slide"/><Relationship Id="rId110" Target="slides/slide10.xml" Type="http://schemas.openxmlformats.org/officeDocument/2006/relationships/slide"/><Relationship Id="rId111" Target="slides/slide11.xml" Type="http://schemas.openxmlformats.org/officeDocument/2006/relationships/slide"/><Relationship Id="rId112" Target="slides/slide12.xml" Type="http://schemas.openxmlformats.org/officeDocument/2006/relationships/slide"/><Relationship Id="rId113" Target="slides/slide13.xml" Type="http://schemas.openxmlformats.org/officeDocument/2006/relationships/slide"/><Relationship Id="rId114" Target="slides/slide14.xml" Type="http://schemas.openxmlformats.org/officeDocument/2006/relationships/slide"/><Relationship Id="rId115" Target="slides/slide15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54738" y="1029305"/>
            <a:ext cx="14778524" cy="8228389"/>
            <a:chOff x="0" y="0"/>
            <a:chExt cx="3892286" cy="21671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92286" cy="2167148"/>
            </a:xfrm>
            <a:custGeom>
              <a:avLst/>
              <a:gdLst/>
              <a:ahLst/>
              <a:cxnLst/>
              <a:rect r="r" b="b" t="t" l="l"/>
              <a:pathLst>
                <a:path h="2167148" w="3892286">
                  <a:moveTo>
                    <a:pt x="15192" y="0"/>
                  </a:moveTo>
                  <a:lnTo>
                    <a:pt x="3877094" y="0"/>
                  </a:lnTo>
                  <a:cubicBezTo>
                    <a:pt x="3885485" y="0"/>
                    <a:pt x="3892286" y="6802"/>
                    <a:pt x="3892286" y="15192"/>
                  </a:cubicBezTo>
                  <a:lnTo>
                    <a:pt x="3892286" y="2151956"/>
                  </a:lnTo>
                  <a:cubicBezTo>
                    <a:pt x="3892286" y="2155985"/>
                    <a:pt x="3890685" y="2159849"/>
                    <a:pt x="3887836" y="2162698"/>
                  </a:cubicBezTo>
                  <a:cubicBezTo>
                    <a:pt x="3884987" y="2165547"/>
                    <a:pt x="3881123" y="2167148"/>
                    <a:pt x="3877094" y="2167148"/>
                  </a:cubicBezTo>
                  <a:lnTo>
                    <a:pt x="15192" y="2167148"/>
                  </a:lnTo>
                  <a:cubicBezTo>
                    <a:pt x="6802" y="2167148"/>
                    <a:pt x="0" y="2160346"/>
                    <a:pt x="0" y="2151956"/>
                  </a:cubicBezTo>
                  <a:lnTo>
                    <a:pt x="0" y="15192"/>
                  </a:lnTo>
                  <a:cubicBezTo>
                    <a:pt x="0" y="6802"/>
                    <a:pt x="6802" y="0"/>
                    <a:pt x="15192" y="0"/>
                  </a:cubicBezTo>
                  <a:close/>
                </a:path>
              </a:pathLst>
            </a:custGeom>
            <a:ln w="38100" cap="rnd">
              <a:solidFill>
                <a:srgbClr val="AAC85A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892286" cy="22147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486402">
            <a:off x="-522939" y="-367883"/>
            <a:ext cx="3377819" cy="2794377"/>
          </a:xfrm>
          <a:custGeom>
            <a:avLst/>
            <a:gdLst/>
            <a:ahLst/>
            <a:cxnLst/>
            <a:rect r="r" b="b" t="t" l="l"/>
            <a:pathLst>
              <a:path h="2794377" w="3377819">
                <a:moveTo>
                  <a:pt x="0" y="0"/>
                </a:moveTo>
                <a:lnTo>
                  <a:pt x="3377819" y="0"/>
                </a:lnTo>
                <a:lnTo>
                  <a:pt x="3377819" y="2794377"/>
                </a:lnTo>
                <a:lnTo>
                  <a:pt x="0" y="27943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493517">
            <a:off x="15427516" y="7870636"/>
            <a:ext cx="3377819" cy="2794377"/>
          </a:xfrm>
          <a:custGeom>
            <a:avLst/>
            <a:gdLst/>
            <a:ahLst/>
            <a:cxnLst/>
            <a:rect r="r" b="b" t="t" l="l"/>
            <a:pathLst>
              <a:path h="2794377" w="3377819">
                <a:moveTo>
                  <a:pt x="3377818" y="2794378"/>
                </a:moveTo>
                <a:lnTo>
                  <a:pt x="0" y="2794378"/>
                </a:lnTo>
                <a:lnTo>
                  <a:pt x="0" y="0"/>
                </a:lnTo>
                <a:lnTo>
                  <a:pt x="3377818" y="0"/>
                </a:lnTo>
                <a:lnTo>
                  <a:pt x="3377818" y="2794378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311420">
            <a:off x="-1223133" y="7592707"/>
            <a:ext cx="3922436" cy="3922436"/>
          </a:xfrm>
          <a:custGeom>
            <a:avLst/>
            <a:gdLst/>
            <a:ahLst/>
            <a:cxnLst/>
            <a:rect r="r" b="b" t="t" l="l"/>
            <a:pathLst>
              <a:path h="3922436" w="3922436">
                <a:moveTo>
                  <a:pt x="0" y="0"/>
                </a:moveTo>
                <a:lnTo>
                  <a:pt x="3922436" y="0"/>
                </a:lnTo>
                <a:lnTo>
                  <a:pt x="3922436" y="3922436"/>
                </a:lnTo>
                <a:lnTo>
                  <a:pt x="0" y="3922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1317334">
            <a:off x="15593357" y="-1229411"/>
            <a:ext cx="3922436" cy="3922436"/>
          </a:xfrm>
          <a:custGeom>
            <a:avLst/>
            <a:gdLst/>
            <a:ahLst/>
            <a:cxnLst/>
            <a:rect r="r" b="b" t="t" l="l"/>
            <a:pathLst>
              <a:path h="3922436" w="3922436">
                <a:moveTo>
                  <a:pt x="3922436" y="3922436"/>
                </a:moveTo>
                <a:lnTo>
                  <a:pt x="0" y="3922436"/>
                </a:lnTo>
                <a:lnTo>
                  <a:pt x="0" y="0"/>
                </a:lnTo>
                <a:lnTo>
                  <a:pt x="3922436" y="0"/>
                </a:lnTo>
                <a:lnTo>
                  <a:pt x="3922436" y="3922436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302437">
            <a:off x="1854647" y="8837398"/>
            <a:ext cx="2867640" cy="2400454"/>
          </a:xfrm>
          <a:custGeom>
            <a:avLst/>
            <a:gdLst/>
            <a:ahLst/>
            <a:cxnLst/>
            <a:rect r="r" b="b" t="t" l="l"/>
            <a:pathLst>
              <a:path h="2400454" w="2867640">
                <a:moveTo>
                  <a:pt x="2867641" y="2400454"/>
                </a:moveTo>
                <a:lnTo>
                  <a:pt x="0" y="2400454"/>
                </a:lnTo>
                <a:lnTo>
                  <a:pt x="0" y="0"/>
                </a:lnTo>
                <a:lnTo>
                  <a:pt x="2867641" y="0"/>
                </a:lnTo>
                <a:lnTo>
                  <a:pt x="2867641" y="2400454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302437">
            <a:off x="13568501" y="-789560"/>
            <a:ext cx="2867640" cy="2400454"/>
          </a:xfrm>
          <a:custGeom>
            <a:avLst/>
            <a:gdLst/>
            <a:ahLst/>
            <a:cxnLst/>
            <a:rect r="r" b="b" t="t" l="l"/>
            <a:pathLst>
              <a:path h="2400454" w="2867640">
                <a:moveTo>
                  <a:pt x="0" y="0"/>
                </a:moveTo>
                <a:lnTo>
                  <a:pt x="2867640" y="0"/>
                </a:lnTo>
                <a:lnTo>
                  <a:pt x="2867640" y="2400454"/>
                </a:lnTo>
                <a:lnTo>
                  <a:pt x="0" y="24004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2272826" y="-512289"/>
            <a:ext cx="1682856" cy="1845911"/>
          </a:xfrm>
          <a:custGeom>
            <a:avLst/>
            <a:gdLst/>
            <a:ahLst/>
            <a:cxnLst/>
            <a:rect r="r" b="b" t="t" l="l"/>
            <a:pathLst>
              <a:path h="1845911" w="1682856">
                <a:moveTo>
                  <a:pt x="1682856" y="1845912"/>
                </a:moveTo>
                <a:lnTo>
                  <a:pt x="0" y="1845912"/>
                </a:lnTo>
                <a:lnTo>
                  <a:pt x="0" y="0"/>
                </a:lnTo>
                <a:lnTo>
                  <a:pt x="1682856" y="0"/>
                </a:lnTo>
                <a:lnTo>
                  <a:pt x="1682856" y="1845912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326046" y="8951105"/>
            <a:ext cx="1682856" cy="1845911"/>
          </a:xfrm>
          <a:custGeom>
            <a:avLst/>
            <a:gdLst/>
            <a:ahLst/>
            <a:cxnLst/>
            <a:rect r="r" b="b" t="t" l="l"/>
            <a:pathLst>
              <a:path h="1845911" w="1682856">
                <a:moveTo>
                  <a:pt x="0" y="0"/>
                </a:moveTo>
                <a:lnTo>
                  <a:pt x="1682856" y="0"/>
                </a:lnTo>
                <a:lnTo>
                  <a:pt x="1682856" y="1845911"/>
                </a:lnTo>
                <a:lnTo>
                  <a:pt x="0" y="18459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2017940">
            <a:off x="16670810" y="5992839"/>
            <a:ext cx="2647083" cy="2021409"/>
          </a:xfrm>
          <a:custGeom>
            <a:avLst/>
            <a:gdLst/>
            <a:ahLst/>
            <a:cxnLst/>
            <a:rect r="r" b="b" t="t" l="l"/>
            <a:pathLst>
              <a:path h="2021409" w="2647083">
                <a:moveTo>
                  <a:pt x="0" y="0"/>
                </a:moveTo>
                <a:lnTo>
                  <a:pt x="2647083" y="0"/>
                </a:lnTo>
                <a:lnTo>
                  <a:pt x="2647083" y="2021408"/>
                </a:lnTo>
                <a:lnTo>
                  <a:pt x="0" y="20214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true" rot="-2017940">
            <a:off x="-1031598" y="2271015"/>
            <a:ext cx="2647083" cy="2021409"/>
          </a:xfrm>
          <a:custGeom>
            <a:avLst/>
            <a:gdLst/>
            <a:ahLst/>
            <a:cxnLst/>
            <a:rect r="r" b="b" t="t" l="l"/>
            <a:pathLst>
              <a:path h="2021409" w="2647083">
                <a:moveTo>
                  <a:pt x="2647082" y="2021408"/>
                </a:moveTo>
                <a:lnTo>
                  <a:pt x="0" y="2021408"/>
                </a:lnTo>
                <a:lnTo>
                  <a:pt x="0" y="0"/>
                </a:lnTo>
                <a:lnTo>
                  <a:pt x="2647082" y="0"/>
                </a:lnTo>
                <a:lnTo>
                  <a:pt x="2647082" y="2021408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id="103" name="Etiqueta 103"/>
          <p:cNvGrpSpPr/>
          <p:nvPr/>
        </p:nvGrpSpPr>
        <p:grpSpPr>
          <a:xfrm>
            <a:off x="7040880" y="2606040"/>
            <a:ext cx="4206240" cy="658368"/>
            <a:chOff x="7040880" y="2606040"/>
            <a:chExt cx="4206240" cy="658368"/>
          </a:xfrm>
        </p:grpSpPr>
        <p:sp>
          <p:nvSpPr>
            <p:cNvPr id="101" name="Etiqueta 101"/>
            <p:cNvSpPr/>
            <p:nvPr/>
          </p:nvSpPr>
          <p:spPr>
            <a:xfrm>
              <a:off x="7040880" y="2606040"/>
              <a:ext cx="4206240" cy="658368"/>
            </a:xfrm>
            <a:prstGeom prst="roundRect">
              <a:avLst>
                <a:gd name="adj" fmla="val 50000"/>
              </a:avLst>
            </a:prstGeom>
            <a:solidFill>
              <a:srgbClr val="E0E1C8">
                <a:alpha val="56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2" name="Texto 102"/>
            <p:cNvSpPr txBox="1"/>
            <p:nvPr/>
          </p:nvSpPr>
          <p:spPr>
            <a:xfrm>
              <a:off x="7040880" y="2606040"/>
              <a:ext cx="4206240" cy="658368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spc="36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MICROBIOLOGIA</a:t>
              </a:r>
            </a:p>
          </p:txBody>
        </p:sp>
      </p:grpSp>
      <p:sp>
        <p:nvSpPr>
          <p:cNvPr id="104" name="Título 104"/>
          <p:cNvSpPr txBox="1"/>
          <p:nvPr/>
        </p:nvSpPr>
        <p:spPr>
          <a:xfrm>
            <a:off x="2194560" y="3383280"/>
            <a:ext cx="13898880" cy="201168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0">
                <a:solidFill>
                  <a:srgbClr val="3E721D"/>
                </a:solidFill>
                <a:latin typeface="Lilita One"/>
                <a:ea typeface="Lilita One"/>
                <a:cs typeface="Lilita One"/>
                <a:sym typeface="Lilita One"/>
              </a:rPr>
              <a:t>SALMONELLA</a:t>
            </a:r>
          </a:p>
        </p:txBody>
      </p:sp>
      <p:sp>
        <p:nvSpPr>
          <p:cNvPr id="105" name="Subtítulo 105"/>
          <p:cNvSpPr txBox="1"/>
          <p:nvPr/>
        </p:nvSpPr>
        <p:spPr>
          <a:xfrm>
            <a:off x="3108960" y="5486400"/>
            <a:ext cx="12070080" cy="548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>
                <a:solidFill>
                  <a:srgbClr val="3E721D"/>
                </a:solidFill>
                <a:latin typeface="Garet Light"/>
                <a:ea typeface="Garet Light"/>
                <a:cs typeface="Garet Light"/>
                <a:sym typeface="Garet Light"/>
              </a:rPr>
              <a:t>Taxonomia, principais doenças e formas de prevenção</a:t>
            </a:r>
          </a:p>
        </p:txBody>
      </p:sp>
      <p:grpSp>
        <p:nvGrpSpPr>
          <p:cNvPr id="108" name="Integrantes 108"/>
          <p:cNvGrpSpPr/>
          <p:nvPr/>
        </p:nvGrpSpPr>
        <p:grpSpPr>
          <a:xfrm>
            <a:off x="2194560" y="6446520"/>
            <a:ext cx="13898880" cy="868680"/>
            <a:chOff x="2194560" y="6446520"/>
            <a:chExt cx="13898880" cy="868680"/>
          </a:xfrm>
        </p:grpSpPr>
        <p:sp>
          <p:nvSpPr>
            <p:cNvPr id="106" name="Texto 106"/>
            <p:cNvSpPr txBox="1"/>
            <p:nvPr/>
          </p:nvSpPr>
          <p:spPr>
            <a:xfrm>
              <a:off x="2743200" y="6446520"/>
              <a:ext cx="12801600" cy="36576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 spc="36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APRESENTADO POR</a:t>
              </a:r>
            </a:p>
          </p:txBody>
        </p:sp>
        <p:sp>
          <p:nvSpPr>
            <p:cNvPr id="107" name="Texto 107"/>
            <p:cNvSpPr txBox="1"/>
            <p:nvPr/>
          </p:nvSpPr>
          <p:spPr>
            <a:xfrm>
              <a:off x="2194560" y="6858000"/>
              <a:ext cx="13898880" cy="45720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100" b="1">
                  <a:solidFill>
                    <a:srgbClr val="3E721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Matheus Rosa  •  Gabriely Paixão  •  Yvana Lopes  •  Milena Vitória  •  Myriam Caires</a:t>
              </a: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105" grpId="0"/>
    </p:bld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86402">
            <a:off x="-522939" y="-367883"/>
            <a:ext cx="3377819" cy="2794377"/>
          </a:xfrm>
          <a:custGeom>
            <a:avLst/>
            <a:gdLst/>
            <a:ahLst/>
            <a:cxnLst/>
            <a:rect r="r" b="b" t="t" l="l"/>
            <a:pathLst>
              <a:path h="2794377" w="3377819">
                <a:moveTo>
                  <a:pt x="0" y="0"/>
                </a:moveTo>
                <a:lnTo>
                  <a:pt x="3377819" y="0"/>
                </a:lnTo>
                <a:lnTo>
                  <a:pt x="3377819" y="2794377"/>
                </a:lnTo>
                <a:lnTo>
                  <a:pt x="0" y="27943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493517">
            <a:off x="15427516" y="7870636"/>
            <a:ext cx="3377819" cy="2794377"/>
          </a:xfrm>
          <a:custGeom>
            <a:avLst/>
            <a:gdLst/>
            <a:ahLst/>
            <a:cxnLst/>
            <a:rect r="r" b="b" t="t" l="l"/>
            <a:pathLst>
              <a:path h="2794377" w="3377819">
                <a:moveTo>
                  <a:pt x="3377818" y="2794378"/>
                </a:moveTo>
                <a:lnTo>
                  <a:pt x="0" y="2794378"/>
                </a:lnTo>
                <a:lnTo>
                  <a:pt x="0" y="0"/>
                </a:lnTo>
                <a:lnTo>
                  <a:pt x="3377818" y="0"/>
                </a:lnTo>
                <a:lnTo>
                  <a:pt x="3377818" y="2794378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11420">
            <a:off x="-1223133" y="7592707"/>
            <a:ext cx="3922436" cy="3922436"/>
          </a:xfrm>
          <a:custGeom>
            <a:avLst/>
            <a:gdLst/>
            <a:ahLst/>
            <a:cxnLst/>
            <a:rect r="r" b="b" t="t" l="l"/>
            <a:pathLst>
              <a:path h="3922436" w="3922436">
                <a:moveTo>
                  <a:pt x="0" y="0"/>
                </a:moveTo>
                <a:lnTo>
                  <a:pt x="3922436" y="0"/>
                </a:lnTo>
                <a:lnTo>
                  <a:pt x="3922436" y="3922436"/>
                </a:lnTo>
                <a:lnTo>
                  <a:pt x="0" y="3922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1317334">
            <a:off x="15593357" y="-1229411"/>
            <a:ext cx="3922436" cy="3922436"/>
          </a:xfrm>
          <a:custGeom>
            <a:avLst/>
            <a:gdLst/>
            <a:ahLst/>
            <a:cxnLst/>
            <a:rect r="r" b="b" t="t" l="l"/>
            <a:pathLst>
              <a:path h="3922436" w="3922436">
                <a:moveTo>
                  <a:pt x="3922436" y="3922436"/>
                </a:moveTo>
                <a:lnTo>
                  <a:pt x="0" y="3922436"/>
                </a:lnTo>
                <a:lnTo>
                  <a:pt x="0" y="0"/>
                </a:lnTo>
                <a:lnTo>
                  <a:pt x="3922436" y="0"/>
                </a:lnTo>
                <a:lnTo>
                  <a:pt x="3922436" y="3922436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302437">
            <a:off x="1854647" y="8837398"/>
            <a:ext cx="2867640" cy="2400454"/>
          </a:xfrm>
          <a:custGeom>
            <a:avLst/>
            <a:gdLst/>
            <a:ahLst/>
            <a:cxnLst/>
            <a:rect r="r" b="b" t="t" l="l"/>
            <a:pathLst>
              <a:path h="2400454" w="2867640">
                <a:moveTo>
                  <a:pt x="2867641" y="2400454"/>
                </a:moveTo>
                <a:lnTo>
                  <a:pt x="0" y="2400454"/>
                </a:lnTo>
                <a:lnTo>
                  <a:pt x="0" y="0"/>
                </a:lnTo>
                <a:lnTo>
                  <a:pt x="2867641" y="0"/>
                </a:lnTo>
                <a:lnTo>
                  <a:pt x="2867641" y="2400454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02437">
            <a:off x="13568501" y="-789560"/>
            <a:ext cx="2867640" cy="2400454"/>
          </a:xfrm>
          <a:custGeom>
            <a:avLst/>
            <a:gdLst/>
            <a:ahLst/>
            <a:cxnLst/>
            <a:rect r="r" b="b" t="t" l="l"/>
            <a:pathLst>
              <a:path h="2400454" w="2867640">
                <a:moveTo>
                  <a:pt x="0" y="0"/>
                </a:moveTo>
                <a:lnTo>
                  <a:pt x="2867640" y="0"/>
                </a:lnTo>
                <a:lnTo>
                  <a:pt x="2867640" y="2400454"/>
                </a:lnTo>
                <a:lnTo>
                  <a:pt x="0" y="24004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2272826" y="-512289"/>
            <a:ext cx="1682856" cy="1845911"/>
          </a:xfrm>
          <a:custGeom>
            <a:avLst/>
            <a:gdLst/>
            <a:ahLst/>
            <a:cxnLst/>
            <a:rect r="r" b="b" t="t" l="l"/>
            <a:pathLst>
              <a:path h="1845911" w="1682856">
                <a:moveTo>
                  <a:pt x="1682856" y="1845912"/>
                </a:moveTo>
                <a:lnTo>
                  <a:pt x="0" y="1845912"/>
                </a:lnTo>
                <a:lnTo>
                  <a:pt x="0" y="0"/>
                </a:lnTo>
                <a:lnTo>
                  <a:pt x="1682856" y="0"/>
                </a:lnTo>
                <a:lnTo>
                  <a:pt x="1682856" y="1845912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326046" y="8951105"/>
            <a:ext cx="1682856" cy="1845911"/>
          </a:xfrm>
          <a:custGeom>
            <a:avLst/>
            <a:gdLst/>
            <a:ahLst/>
            <a:cxnLst/>
            <a:rect r="r" b="b" t="t" l="l"/>
            <a:pathLst>
              <a:path h="1845911" w="1682856">
                <a:moveTo>
                  <a:pt x="0" y="0"/>
                </a:moveTo>
                <a:lnTo>
                  <a:pt x="1682856" y="0"/>
                </a:lnTo>
                <a:lnTo>
                  <a:pt x="1682856" y="1845911"/>
                </a:lnTo>
                <a:lnTo>
                  <a:pt x="0" y="18459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017940">
            <a:off x="16670810" y="5992839"/>
            <a:ext cx="2647083" cy="2021409"/>
          </a:xfrm>
          <a:custGeom>
            <a:avLst/>
            <a:gdLst/>
            <a:ahLst/>
            <a:cxnLst/>
            <a:rect r="r" b="b" t="t" l="l"/>
            <a:pathLst>
              <a:path h="2021409" w="2647083">
                <a:moveTo>
                  <a:pt x="0" y="0"/>
                </a:moveTo>
                <a:lnTo>
                  <a:pt x="2647083" y="0"/>
                </a:lnTo>
                <a:lnTo>
                  <a:pt x="2647083" y="2021408"/>
                </a:lnTo>
                <a:lnTo>
                  <a:pt x="0" y="20214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-2017940">
            <a:off x="-1031598" y="2271015"/>
            <a:ext cx="2647083" cy="2021409"/>
          </a:xfrm>
          <a:custGeom>
            <a:avLst/>
            <a:gdLst/>
            <a:ahLst/>
            <a:cxnLst/>
            <a:rect r="r" b="b" t="t" l="l"/>
            <a:pathLst>
              <a:path h="2021409" w="2647083">
                <a:moveTo>
                  <a:pt x="2647082" y="2021408"/>
                </a:moveTo>
                <a:lnTo>
                  <a:pt x="0" y="2021408"/>
                </a:lnTo>
                <a:lnTo>
                  <a:pt x="0" y="0"/>
                </a:lnTo>
                <a:lnTo>
                  <a:pt x="2647082" y="0"/>
                </a:lnTo>
                <a:lnTo>
                  <a:pt x="2647082" y="2021408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75609" y="519578"/>
            <a:ext cx="17136781" cy="9247843"/>
            <a:chOff x="0" y="0"/>
            <a:chExt cx="4513391" cy="24356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13391" cy="2435646"/>
            </a:xfrm>
            <a:custGeom>
              <a:avLst/>
              <a:gdLst/>
              <a:ahLst/>
              <a:cxnLst/>
              <a:rect r="r" b="b" t="t" l="l"/>
              <a:pathLst>
                <a:path h="2435646" w="4513391">
                  <a:moveTo>
                    <a:pt x="16264" y="0"/>
                  </a:moveTo>
                  <a:lnTo>
                    <a:pt x="4497127" y="0"/>
                  </a:lnTo>
                  <a:cubicBezTo>
                    <a:pt x="4506109" y="0"/>
                    <a:pt x="4513391" y="7282"/>
                    <a:pt x="4513391" y="16264"/>
                  </a:cubicBezTo>
                  <a:lnTo>
                    <a:pt x="4513391" y="2419382"/>
                  </a:lnTo>
                  <a:cubicBezTo>
                    <a:pt x="4513391" y="2428364"/>
                    <a:pt x="4506109" y="2435646"/>
                    <a:pt x="4497127" y="2435646"/>
                  </a:cubicBezTo>
                  <a:lnTo>
                    <a:pt x="16264" y="2435646"/>
                  </a:lnTo>
                  <a:cubicBezTo>
                    <a:pt x="7282" y="2435646"/>
                    <a:pt x="0" y="2428364"/>
                    <a:pt x="0" y="2419382"/>
                  </a:cubicBezTo>
                  <a:lnTo>
                    <a:pt x="0" y="16264"/>
                  </a:lnTo>
                  <a:cubicBezTo>
                    <a:pt x="0" y="7282"/>
                    <a:pt x="7282" y="0"/>
                    <a:pt x="16264" y="0"/>
                  </a:cubicBezTo>
                  <a:close/>
                </a:path>
              </a:pathLst>
            </a:custGeom>
            <a:solidFill>
              <a:srgbClr val="EAEAEA">
                <a:alpha val="84706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513391" cy="2483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id="101" name="Cabeçalho 101"/>
          <p:cNvSpPr txBox="1"/>
          <p:nvPr/>
        </p:nvSpPr>
        <p:spPr>
          <a:xfrm>
            <a:off x="1024128" y="932688"/>
            <a:ext cx="1353312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 xml:space="preserve">Apresentado por  </a:t>
            </a:r>
            <a:r>
              <a:rPr lang="pt-BR" sz="1900" b="1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Matheus Rosa, Gabriely Paixão, Yvana Lopes, Milena Vitória e Myriam Caires</a:t>
            </a:r>
          </a:p>
        </p:txBody>
      </p:sp>
      <p:sp>
        <p:nvSpPr>
          <p:cNvPr id="102" name="Ano 102"/>
          <p:cNvSpPr txBox="1"/>
          <p:nvPr/>
        </p:nvSpPr>
        <p:spPr>
          <a:xfrm>
            <a:off x="15453360" y="932688"/>
            <a:ext cx="181051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spc="400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2026</a:t>
            </a:r>
          </a:p>
        </p:txBody>
      </p:sp>
      <p:sp>
        <p:nvSpPr>
          <p:cNvPr id="103" name="Rodapé 103"/>
          <p:cNvSpPr txBox="1"/>
          <p:nvPr/>
        </p:nvSpPr>
        <p:spPr>
          <a:xfrm>
            <a:off x="1024128" y="8887968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>Microbiologia  |  Salmonella</a:t>
            </a:r>
          </a:p>
        </p:txBody>
      </p:sp>
      <p:sp>
        <p:nvSpPr>
          <p:cNvPr id="104" name="Página 104"/>
          <p:cNvSpPr txBox="1"/>
          <p:nvPr/>
        </p:nvSpPr>
        <p:spPr>
          <a:xfrm>
            <a:off x="13624560" y="8887968"/>
            <a:ext cx="363931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 spc="400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PÁGINA 02</a:t>
            </a:r>
          </a:p>
        </p:txBody>
      </p:sp>
      <p:sp>
        <p:nvSpPr>
          <p:cNvPr id="105" name="Título 105"/>
          <p:cNvSpPr txBox="1"/>
          <p:nvPr/>
        </p:nvSpPr>
        <p:spPr>
          <a:xfrm>
            <a:off x="2286000" y="2148840"/>
            <a:ext cx="13716000" cy="1371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>
                <a:solidFill>
                  <a:srgbClr val="3E721D"/>
                </a:solidFill>
                <a:latin typeface="Lilita One"/>
                <a:ea typeface="Lilita One"/>
                <a:cs typeface="Lilita One"/>
                <a:sym typeface="Lilita One"/>
              </a:rPr>
              <a:t>INTRODUÇÃO</a:t>
            </a:r>
          </a:p>
        </p:txBody>
      </p:sp>
      <p:sp>
        <p:nvSpPr>
          <p:cNvPr id="106" name="Texto 106"/>
          <p:cNvSpPr txBox="1"/>
          <p:nvPr/>
        </p:nvSpPr>
        <p:spPr>
          <a:xfrm>
            <a:off x="3017520" y="3840480"/>
            <a:ext cx="12252960" cy="23774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 i="1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>Salmonella</a:t>
            </a:r>
            <a:r>
              <a:rPr lang="pt-BR" sz="27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 xml:space="preserve"> é um gênero de bactérias que vive no intestino de pessoas e animais. É uma das principais causas de infecções transmitidas por alimentos e água contaminados, provocando desde diarreias leves até doenças graves, como a febre tifoide.</a:t>
            </a:r>
          </a:p>
        </p:txBody>
      </p:sp>
      <p:grpSp>
        <p:nvGrpSpPr>
          <p:cNvPr id="113" name="Destaques 113"/>
          <p:cNvGrpSpPr/>
          <p:nvPr/>
        </p:nvGrpSpPr>
        <p:grpSpPr>
          <a:xfrm>
            <a:off x="2651760" y="6720840"/>
            <a:ext cx="12984480" cy="868680"/>
            <a:chOff x="2651760" y="6720840"/>
            <a:chExt cx="12984480" cy="868680"/>
          </a:xfrm>
        </p:grpSpPr>
        <p:sp>
          <p:nvSpPr>
            <p:cNvPr id="107" name="Cartão 107"/>
            <p:cNvSpPr/>
            <p:nvPr/>
          </p:nvSpPr>
          <p:spPr>
            <a:xfrm>
              <a:off x="2651760" y="6720840"/>
              <a:ext cx="4114800" cy="868680"/>
            </a:xfrm>
            <a:prstGeom prst="roundRect">
              <a:avLst>
                <a:gd name="adj" fmla="val 50000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8" name="Texto 108"/>
            <p:cNvSpPr txBox="1"/>
            <p:nvPr/>
          </p:nvSpPr>
          <p:spPr>
            <a:xfrm>
              <a:off x="2651760" y="6720840"/>
              <a:ext cx="4114800" cy="868680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100" b="1">
                  <a:solidFill>
                    <a:srgbClr val="3E721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Bactéria gram-negativa</a:t>
              </a:r>
            </a:p>
          </p:txBody>
        </p:sp>
        <p:sp>
          <p:nvSpPr>
            <p:cNvPr id="109" name="Cartão 109"/>
            <p:cNvSpPr/>
            <p:nvPr/>
          </p:nvSpPr>
          <p:spPr>
            <a:xfrm>
              <a:off x="7086600" y="6720840"/>
              <a:ext cx="4114800" cy="868680"/>
            </a:xfrm>
            <a:prstGeom prst="roundRect">
              <a:avLst>
                <a:gd name="adj" fmla="val 50000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0" name="Texto 110"/>
            <p:cNvSpPr txBox="1"/>
            <p:nvPr/>
          </p:nvSpPr>
          <p:spPr>
            <a:xfrm>
              <a:off x="7086600" y="6720840"/>
              <a:ext cx="4114800" cy="868680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100" b="1">
                  <a:solidFill>
                    <a:srgbClr val="3E721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Transmissão alimentar</a:t>
              </a:r>
            </a:p>
          </p:txBody>
        </p:sp>
        <p:sp>
          <p:nvSpPr>
            <p:cNvPr id="111" name="Cartão 111"/>
            <p:cNvSpPr/>
            <p:nvPr/>
          </p:nvSpPr>
          <p:spPr>
            <a:xfrm>
              <a:off x="11521440" y="6720840"/>
              <a:ext cx="4114800" cy="868680"/>
            </a:xfrm>
            <a:prstGeom prst="roundRect">
              <a:avLst>
                <a:gd name="adj" fmla="val 50000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2" name="Texto 112"/>
            <p:cNvSpPr txBox="1"/>
            <p:nvPr/>
          </p:nvSpPr>
          <p:spPr>
            <a:xfrm>
              <a:off x="11521440" y="6720840"/>
              <a:ext cx="4114800" cy="868680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100" b="1">
                  <a:solidFill>
                    <a:srgbClr val="3E721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Doença evitável</a:t>
              </a: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  <p:bldP spid="106" grpId="0"/>
    </p:bld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86402">
            <a:off x="-522939" y="-367883"/>
            <a:ext cx="3377819" cy="2794377"/>
          </a:xfrm>
          <a:custGeom>
            <a:avLst/>
            <a:gdLst/>
            <a:ahLst/>
            <a:cxnLst/>
            <a:rect r="r" b="b" t="t" l="l"/>
            <a:pathLst>
              <a:path h="2794377" w="3377819">
                <a:moveTo>
                  <a:pt x="0" y="0"/>
                </a:moveTo>
                <a:lnTo>
                  <a:pt x="3377819" y="0"/>
                </a:lnTo>
                <a:lnTo>
                  <a:pt x="3377819" y="2794377"/>
                </a:lnTo>
                <a:lnTo>
                  <a:pt x="0" y="27943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493517">
            <a:off x="15427516" y="7870636"/>
            <a:ext cx="3377819" cy="2794377"/>
          </a:xfrm>
          <a:custGeom>
            <a:avLst/>
            <a:gdLst/>
            <a:ahLst/>
            <a:cxnLst/>
            <a:rect r="r" b="b" t="t" l="l"/>
            <a:pathLst>
              <a:path h="2794377" w="3377819">
                <a:moveTo>
                  <a:pt x="3377818" y="2794378"/>
                </a:moveTo>
                <a:lnTo>
                  <a:pt x="0" y="2794378"/>
                </a:lnTo>
                <a:lnTo>
                  <a:pt x="0" y="0"/>
                </a:lnTo>
                <a:lnTo>
                  <a:pt x="3377818" y="0"/>
                </a:lnTo>
                <a:lnTo>
                  <a:pt x="3377818" y="2794378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11420">
            <a:off x="-1223133" y="7592707"/>
            <a:ext cx="3922436" cy="3922436"/>
          </a:xfrm>
          <a:custGeom>
            <a:avLst/>
            <a:gdLst/>
            <a:ahLst/>
            <a:cxnLst/>
            <a:rect r="r" b="b" t="t" l="l"/>
            <a:pathLst>
              <a:path h="3922436" w="3922436">
                <a:moveTo>
                  <a:pt x="0" y="0"/>
                </a:moveTo>
                <a:lnTo>
                  <a:pt x="3922436" y="0"/>
                </a:lnTo>
                <a:lnTo>
                  <a:pt x="3922436" y="3922436"/>
                </a:lnTo>
                <a:lnTo>
                  <a:pt x="0" y="3922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1317334">
            <a:off x="15593357" y="-1229411"/>
            <a:ext cx="3922436" cy="3922436"/>
          </a:xfrm>
          <a:custGeom>
            <a:avLst/>
            <a:gdLst/>
            <a:ahLst/>
            <a:cxnLst/>
            <a:rect r="r" b="b" t="t" l="l"/>
            <a:pathLst>
              <a:path h="3922436" w="3922436">
                <a:moveTo>
                  <a:pt x="3922436" y="3922436"/>
                </a:moveTo>
                <a:lnTo>
                  <a:pt x="0" y="3922436"/>
                </a:lnTo>
                <a:lnTo>
                  <a:pt x="0" y="0"/>
                </a:lnTo>
                <a:lnTo>
                  <a:pt x="3922436" y="0"/>
                </a:lnTo>
                <a:lnTo>
                  <a:pt x="3922436" y="3922436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302437">
            <a:off x="1854647" y="8837398"/>
            <a:ext cx="2867640" cy="2400454"/>
          </a:xfrm>
          <a:custGeom>
            <a:avLst/>
            <a:gdLst/>
            <a:ahLst/>
            <a:cxnLst/>
            <a:rect r="r" b="b" t="t" l="l"/>
            <a:pathLst>
              <a:path h="2400454" w="2867640">
                <a:moveTo>
                  <a:pt x="2867641" y="2400454"/>
                </a:moveTo>
                <a:lnTo>
                  <a:pt x="0" y="2400454"/>
                </a:lnTo>
                <a:lnTo>
                  <a:pt x="0" y="0"/>
                </a:lnTo>
                <a:lnTo>
                  <a:pt x="2867641" y="0"/>
                </a:lnTo>
                <a:lnTo>
                  <a:pt x="2867641" y="2400454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02437">
            <a:off x="13568501" y="-789560"/>
            <a:ext cx="2867640" cy="2400454"/>
          </a:xfrm>
          <a:custGeom>
            <a:avLst/>
            <a:gdLst/>
            <a:ahLst/>
            <a:cxnLst/>
            <a:rect r="r" b="b" t="t" l="l"/>
            <a:pathLst>
              <a:path h="2400454" w="2867640">
                <a:moveTo>
                  <a:pt x="0" y="0"/>
                </a:moveTo>
                <a:lnTo>
                  <a:pt x="2867640" y="0"/>
                </a:lnTo>
                <a:lnTo>
                  <a:pt x="2867640" y="2400454"/>
                </a:lnTo>
                <a:lnTo>
                  <a:pt x="0" y="24004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2272826" y="-512289"/>
            <a:ext cx="1682856" cy="1845911"/>
          </a:xfrm>
          <a:custGeom>
            <a:avLst/>
            <a:gdLst/>
            <a:ahLst/>
            <a:cxnLst/>
            <a:rect r="r" b="b" t="t" l="l"/>
            <a:pathLst>
              <a:path h="1845911" w="1682856">
                <a:moveTo>
                  <a:pt x="1682856" y="1845912"/>
                </a:moveTo>
                <a:lnTo>
                  <a:pt x="0" y="1845912"/>
                </a:lnTo>
                <a:lnTo>
                  <a:pt x="0" y="0"/>
                </a:lnTo>
                <a:lnTo>
                  <a:pt x="1682856" y="0"/>
                </a:lnTo>
                <a:lnTo>
                  <a:pt x="1682856" y="1845912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326046" y="8951105"/>
            <a:ext cx="1682856" cy="1845911"/>
          </a:xfrm>
          <a:custGeom>
            <a:avLst/>
            <a:gdLst/>
            <a:ahLst/>
            <a:cxnLst/>
            <a:rect r="r" b="b" t="t" l="l"/>
            <a:pathLst>
              <a:path h="1845911" w="1682856">
                <a:moveTo>
                  <a:pt x="0" y="0"/>
                </a:moveTo>
                <a:lnTo>
                  <a:pt x="1682856" y="0"/>
                </a:lnTo>
                <a:lnTo>
                  <a:pt x="1682856" y="1845911"/>
                </a:lnTo>
                <a:lnTo>
                  <a:pt x="0" y="18459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017940">
            <a:off x="16670810" y="5992839"/>
            <a:ext cx="2647083" cy="2021409"/>
          </a:xfrm>
          <a:custGeom>
            <a:avLst/>
            <a:gdLst/>
            <a:ahLst/>
            <a:cxnLst/>
            <a:rect r="r" b="b" t="t" l="l"/>
            <a:pathLst>
              <a:path h="2021409" w="2647083">
                <a:moveTo>
                  <a:pt x="0" y="0"/>
                </a:moveTo>
                <a:lnTo>
                  <a:pt x="2647083" y="0"/>
                </a:lnTo>
                <a:lnTo>
                  <a:pt x="2647083" y="2021408"/>
                </a:lnTo>
                <a:lnTo>
                  <a:pt x="0" y="20214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-2017940">
            <a:off x="-1031598" y="2271015"/>
            <a:ext cx="2647083" cy="2021409"/>
          </a:xfrm>
          <a:custGeom>
            <a:avLst/>
            <a:gdLst/>
            <a:ahLst/>
            <a:cxnLst/>
            <a:rect r="r" b="b" t="t" l="l"/>
            <a:pathLst>
              <a:path h="2021409" w="2647083">
                <a:moveTo>
                  <a:pt x="2647082" y="2021408"/>
                </a:moveTo>
                <a:lnTo>
                  <a:pt x="0" y="2021408"/>
                </a:lnTo>
                <a:lnTo>
                  <a:pt x="0" y="0"/>
                </a:lnTo>
                <a:lnTo>
                  <a:pt x="2647082" y="0"/>
                </a:lnTo>
                <a:lnTo>
                  <a:pt x="2647082" y="2021408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75609" y="519578"/>
            <a:ext cx="17136781" cy="9247843"/>
            <a:chOff x="0" y="0"/>
            <a:chExt cx="4513391" cy="24356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13391" cy="2435646"/>
            </a:xfrm>
            <a:custGeom>
              <a:avLst/>
              <a:gdLst/>
              <a:ahLst/>
              <a:cxnLst/>
              <a:rect r="r" b="b" t="t" l="l"/>
              <a:pathLst>
                <a:path h="2435646" w="4513391">
                  <a:moveTo>
                    <a:pt x="16264" y="0"/>
                  </a:moveTo>
                  <a:lnTo>
                    <a:pt x="4497127" y="0"/>
                  </a:lnTo>
                  <a:cubicBezTo>
                    <a:pt x="4506109" y="0"/>
                    <a:pt x="4513391" y="7282"/>
                    <a:pt x="4513391" y="16264"/>
                  </a:cubicBezTo>
                  <a:lnTo>
                    <a:pt x="4513391" y="2419382"/>
                  </a:lnTo>
                  <a:cubicBezTo>
                    <a:pt x="4513391" y="2428364"/>
                    <a:pt x="4506109" y="2435646"/>
                    <a:pt x="4497127" y="2435646"/>
                  </a:cubicBezTo>
                  <a:lnTo>
                    <a:pt x="16264" y="2435646"/>
                  </a:lnTo>
                  <a:cubicBezTo>
                    <a:pt x="7282" y="2435646"/>
                    <a:pt x="0" y="2428364"/>
                    <a:pt x="0" y="2419382"/>
                  </a:cubicBezTo>
                  <a:lnTo>
                    <a:pt x="0" y="16264"/>
                  </a:lnTo>
                  <a:cubicBezTo>
                    <a:pt x="0" y="7282"/>
                    <a:pt x="7282" y="0"/>
                    <a:pt x="16264" y="0"/>
                  </a:cubicBezTo>
                  <a:close/>
                </a:path>
              </a:pathLst>
            </a:custGeom>
            <a:solidFill>
              <a:srgbClr val="EAEAEA">
                <a:alpha val="84706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513391" cy="2483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id="101" name="Cabeçalho 101"/>
          <p:cNvSpPr txBox="1"/>
          <p:nvPr/>
        </p:nvSpPr>
        <p:spPr>
          <a:xfrm>
            <a:off x="1024128" y="932688"/>
            <a:ext cx="1353312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 xml:space="preserve">Apresentado por  </a:t>
            </a:r>
            <a:r>
              <a:rPr lang="pt-BR" sz="1900" b="1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Matheus Rosa, Gabriely Paixão, Yvana Lopes, Milena Vitória e Myriam Caires</a:t>
            </a:r>
          </a:p>
        </p:txBody>
      </p:sp>
      <p:sp>
        <p:nvSpPr>
          <p:cNvPr id="102" name="Ano 102"/>
          <p:cNvSpPr txBox="1"/>
          <p:nvPr/>
        </p:nvSpPr>
        <p:spPr>
          <a:xfrm>
            <a:off x="15453360" y="932688"/>
            <a:ext cx="181051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spc="400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2026</a:t>
            </a:r>
          </a:p>
        </p:txBody>
      </p:sp>
      <p:sp>
        <p:nvSpPr>
          <p:cNvPr id="103" name="Rodapé 103"/>
          <p:cNvSpPr txBox="1"/>
          <p:nvPr/>
        </p:nvSpPr>
        <p:spPr>
          <a:xfrm>
            <a:off x="1024128" y="8887968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>Microbiologia  |  Salmonella</a:t>
            </a:r>
          </a:p>
        </p:txBody>
      </p:sp>
      <p:sp>
        <p:nvSpPr>
          <p:cNvPr id="104" name="Página 104"/>
          <p:cNvSpPr txBox="1"/>
          <p:nvPr/>
        </p:nvSpPr>
        <p:spPr>
          <a:xfrm>
            <a:off x="13624560" y="8887968"/>
            <a:ext cx="363931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 spc="400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PÁGINA 03</a:t>
            </a:r>
          </a:p>
        </p:txBody>
      </p:sp>
      <p:sp>
        <p:nvSpPr>
          <p:cNvPr id="105" name="Título 105"/>
          <p:cNvSpPr txBox="1"/>
          <p:nvPr/>
        </p:nvSpPr>
        <p:spPr>
          <a:xfrm>
            <a:off x="1828800" y="1783080"/>
            <a:ext cx="14630400" cy="12801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800">
                <a:solidFill>
                  <a:srgbClr val="3E721D"/>
                </a:solidFill>
                <a:latin typeface="Lilita One"/>
                <a:ea typeface="Lilita One"/>
                <a:cs typeface="Lilita One"/>
                <a:sym typeface="Lilita One"/>
              </a:rPr>
              <a:t>UM POUCO DE HISTÓRIA</a:t>
            </a:r>
          </a:p>
        </p:txBody>
      </p:sp>
      <p:grpSp>
        <p:nvGrpSpPr>
          <p:cNvPr id="109" name="Coluna 109"/>
          <p:cNvGrpSpPr/>
          <p:nvPr/>
        </p:nvGrpSpPr>
        <p:grpSpPr>
          <a:xfrm>
            <a:off x="1920240" y="3566160"/>
            <a:ext cx="4526280" cy="4572000"/>
            <a:chOff x="1920240" y="3566160"/>
            <a:chExt cx="4526280" cy="4572000"/>
          </a:xfrm>
        </p:grpSpPr>
        <p:sp>
          <p:nvSpPr>
            <p:cNvPr id="106" name="Cartão 106"/>
            <p:cNvSpPr/>
            <p:nvPr/>
          </p:nvSpPr>
          <p:spPr>
            <a:xfrm>
              <a:off x="1920240" y="3566160"/>
              <a:ext cx="4526280" cy="4572000"/>
            </a:xfrm>
            <a:prstGeom prst="roundRect">
              <a:avLst>
                <a:gd name="adj" fmla="val 2020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7" name="Texto 107"/>
            <p:cNvSpPr txBox="1"/>
            <p:nvPr/>
          </p:nvSpPr>
          <p:spPr>
            <a:xfrm>
              <a:off x="2240280" y="3840480"/>
              <a:ext cx="3886200" cy="8686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58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1880</a:t>
              </a:r>
            </a:p>
          </p:txBody>
        </p:sp>
        <p:sp>
          <p:nvSpPr>
            <p:cNvPr id="108" name="Texto 108"/>
            <p:cNvSpPr txBox="1"/>
            <p:nvPr/>
          </p:nvSpPr>
          <p:spPr>
            <a:xfrm>
              <a:off x="2240280" y="4754880"/>
              <a:ext cx="3886200" cy="32461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pt-BR" sz="30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O bacilo da tifoide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2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Karl Eberth observa o bacilo causador da febre tifoide em tecidos de pacientes; Georg Gaffky consegue cultivá-lo em 1884.</a:t>
              </a:r>
            </a:p>
          </p:txBody>
        </p:sp>
      </p:grpSp>
      <p:grpSp>
        <p:nvGrpSpPr>
          <p:cNvPr id="113" name="Coluna 113"/>
          <p:cNvGrpSpPr/>
          <p:nvPr/>
        </p:nvGrpSpPr>
        <p:grpSpPr>
          <a:xfrm>
            <a:off x="6858000" y="3566160"/>
            <a:ext cx="4526280" cy="4572000"/>
            <a:chOff x="6858000" y="3566160"/>
            <a:chExt cx="4526280" cy="4572000"/>
          </a:xfrm>
        </p:grpSpPr>
        <p:sp>
          <p:nvSpPr>
            <p:cNvPr id="110" name="Cartão 110"/>
            <p:cNvSpPr/>
            <p:nvPr/>
          </p:nvSpPr>
          <p:spPr>
            <a:xfrm>
              <a:off x="6858000" y="3566160"/>
              <a:ext cx="4526280" cy="4572000"/>
            </a:xfrm>
            <a:prstGeom prst="roundRect">
              <a:avLst>
                <a:gd name="adj" fmla="val 2020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1" name="Texto 111"/>
            <p:cNvSpPr txBox="1"/>
            <p:nvPr/>
          </p:nvSpPr>
          <p:spPr>
            <a:xfrm>
              <a:off x="7178040" y="3840480"/>
              <a:ext cx="3886200" cy="8686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58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1885</a:t>
              </a:r>
            </a:p>
          </p:txBody>
        </p:sp>
        <p:sp>
          <p:nvSpPr>
            <p:cNvPr id="112" name="Texto 112"/>
            <p:cNvSpPr txBox="1"/>
            <p:nvPr/>
          </p:nvSpPr>
          <p:spPr>
            <a:xfrm>
              <a:off x="7178040" y="4754880"/>
              <a:ext cx="3886200" cy="32461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pt-BR" sz="30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Isolamento em porcos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2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Daniel E. Salmon e Theobald Smith isolam a bactéria de porcos doentes e a chamam de </a:t>
              </a:r>
              <a:r>
                <a:rPr lang="pt-BR" sz="2200" i="1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Bacillus choleraesuis</a:t>
              </a:r>
              <a:r>
                <a:rPr lang="pt-BR" sz="22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.</a:t>
              </a:r>
            </a:p>
          </p:txBody>
        </p:sp>
      </p:grpSp>
      <p:grpSp>
        <p:nvGrpSpPr>
          <p:cNvPr id="117" name="Coluna 117"/>
          <p:cNvGrpSpPr/>
          <p:nvPr/>
        </p:nvGrpSpPr>
        <p:grpSpPr>
          <a:xfrm>
            <a:off x="11795760" y="3566160"/>
            <a:ext cx="4526280" cy="4572000"/>
            <a:chOff x="11795760" y="3566160"/>
            <a:chExt cx="4526280" cy="4572000"/>
          </a:xfrm>
        </p:grpSpPr>
        <p:sp>
          <p:nvSpPr>
            <p:cNvPr id="114" name="Cartão 114"/>
            <p:cNvSpPr/>
            <p:nvPr/>
          </p:nvSpPr>
          <p:spPr>
            <a:xfrm>
              <a:off x="11795760" y="3566160"/>
              <a:ext cx="4526280" cy="4572000"/>
            </a:xfrm>
            <a:prstGeom prst="roundRect">
              <a:avLst>
                <a:gd name="adj" fmla="val 2020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5" name="Texto 115"/>
            <p:cNvSpPr txBox="1"/>
            <p:nvPr/>
          </p:nvSpPr>
          <p:spPr>
            <a:xfrm>
              <a:off x="12115800" y="3840480"/>
              <a:ext cx="3886200" cy="8686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58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1900</a:t>
              </a:r>
            </a:p>
          </p:txBody>
        </p:sp>
        <p:sp>
          <p:nvSpPr>
            <p:cNvPr id="116" name="Texto 116"/>
            <p:cNvSpPr txBox="1"/>
            <p:nvPr/>
          </p:nvSpPr>
          <p:spPr>
            <a:xfrm>
              <a:off x="12115800" y="4754880"/>
              <a:ext cx="3886200" cy="32461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pt-BR" sz="30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Nasce o nome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2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Joseph Lignières propõe o gênero </a:t>
              </a:r>
              <a:r>
                <a:rPr lang="pt-BR" sz="2200" i="1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Salmonella</a:t>
              </a:r>
              <a:r>
                <a:rPr lang="pt-BR" sz="22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, em homenagem a Daniel Salmon, que chefiava a pesquisa.</a:t>
              </a: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</p:bld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86402">
            <a:off x="-522939" y="-367883"/>
            <a:ext cx="3377819" cy="2794377"/>
          </a:xfrm>
          <a:custGeom>
            <a:avLst/>
            <a:gdLst/>
            <a:ahLst/>
            <a:cxnLst/>
            <a:rect r="r" b="b" t="t" l="l"/>
            <a:pathLst>
              <a:path h="2794377" w="3377819">
                <a:moveTo>
                  <a:pt x="0" y="0"/>
                </a:moveTo>
                <a:lnTo>
                  <a:pt x="3377819" y="0"/>
                </a:lnTo>
                <a:lnTo>
                  <a:pt x="3377819" y="2794377"/>
                </a:lnTo>
                <a:lnTo>
                  <a:pt x="0" y="27943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493517">
            <a:off x="15427516" y="7870636"/>
            <a:ext cx="3377819" cy="2794377"/>
          </a:xfrm>
          <a:custGeom>
            <a:avLst/>
            <a:gdLst/>
            <a:ahLst/>
            <a:cxnLst/>
            <a:rect r="r" b="b" t="t" l="l"/>
            <a:pathLst>
              <a:path h="2794377" w="3377819">
                <a:moveTo>
                  <a:pt x="3377818" y="2794378"/>
                </a:moveTo>
                <a:lnTo>
                  <a:pt x="0" y="2794378"/>
                </a:lnTo>
                <a:lnTo>
                  <a:pt x="0" y="0"/>
                </a:lnTo>
                <a:lnTo>
                  <a:pt x="3377818" y="0"/>
                </a:lnTo>
                <a:lnTo>
                  <a:pt x="3377818" y="2794378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11420">
            <a:off x="-1223133" y="7592707"/>
            <a:ext cx="3922436" cy="3922436"/>
          </a:xfrm>
          <a:custGeom>
            <a:avLst/>
            <a:gdLst/>
            <a:ahLst/>
            <a:cxnLst/>
            <a:rect r="r" b="b" t="t" l="l"/>
            <a:pathLst>
              <a:path h="3922436" w="3922436">
                <a:moveTo>
                  <a:pt x="0" y="0"/>
                </a:moveTo>
                <a:lnTo>
                  <a:pt x="3922436" y="0"/>
                </a:lnTo>
                <a:lnTo>
                  <a:pt x="3922436" y="3922436"/>
                </a:lnTo>
                <a:lnTo>
                  <a:pt x="0" y="3922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1317334">
            <a:off x="15593357" y="-1229411"/>
            <a:ext cx="3922436" cy="3922436"/>
          </a:xfrm>
          <a:custGeom>
            <a:avLst/>
            <a:gdLst/>
            <a:ahLst/>
            <a:cxnLst/>
            <a:rect r="r" b="b" t="t" l="l"/>
            <a:pathLst>
              <a:path h="3922436" w="3922436">
                <a:moveTo>
                  <a:pt x="3922436" y="3922436"/>
                </a:moveTo>
                <a:lnTo>
                  <a:pt x="0" y="3922436"/>
                </a:lnTo>
                <a:lnTo>
                  <a:pt x="0" y="0"/>
                </a:lnTo>
                <a:lnTo>
                  <a:pt x="3922436" y="0"/>
                </a:lnTo>
                <a:lnTo>
                  <a:pt x="3922436" y="3922436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302437">
            <a:off x="1854647" y="8837398"/>
            <a:ext cx="2867640" cy="2400454"/>
          </a:xfrm>
          <a:custGeom>
            <a:avLst/>
            <a:gdLst/>
            <a:ahLst/>
            <a:cxnLst/>
            <a:rect r="r" b="b" t="t" l="l"/>
            <a:pathLst>
              <a:path h="2400454" w="2867640">
                <a:moveTo>
                  <a:pt x="2867641" y="2400454"/>
                </a:moveTo>
                <a:lnTo>
                  <a:pt x="0" y="2400454"/>
                </a:lnTo>
                <a:lnTo>
                  <a:pt x="0" y="0"/>
                </a:lnTo>
                <a:lnTo>
                  <a:pt x="2867641" y="0"/>
                </a:lnTo>
                <a:lnTo>
                  <a:pt x="2867641" y="2400454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02437">
            <a:off x="13568501" y="-789560"/>
            <a:ext cx="2867640" cy="2400454"/>
          </a:xfrm>
          <a:custGeom>
            <a:avLst/>
            <a:gdLst/>
            <a:ahLst/>
            <a:cxnLst/>
            <a:rect r="r" b="b" t="t" l="l"/>
            <a:pathLst>
              <a:path h="2400454" w="2867640">
                <a:moveTo>
                  <a:pt x="0" y="0"/>
                </a:moveTo>
                <a:lnTo>
                  <a:pt x="2867640" y="0"/>
                </a:lnTo>
                <a:lnTo>
                  <a:pt x="2867640" y="2400454"/>
                </a:lnTo>
                <a:lnTo>
                  <a:pt x="0" y="24004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2272826" y="-512289"/>
            <a:ext cx="1682856" cy="1845911"/>
          </a:xfrm>
          <a:custGeom>
            <a:avLst/>
            <a:gdLst/>
            <a:ahLst/>
            <a:cxnLst/>
            <a:rect r="r" b="b" t="t" l="l"/>
            <a:pathLst>
              <a:path h="1845911" w="1682856">
                <a:moveTo>
                  <a:pt x="1682856" y="1845912"/>
                </a:moveTo>
                <a:lnTo>
                  <a:pt x="0" y="1845912"/>
                </a:lnTo>
                <a:lnTo>
                  <a:pt x="0" y="0"/>
                </a:lnTo>
                <a:lnTo>
                  <a:pt x="1682856" y="0"/>
                </a:lnTo>
                <a:lnTo>
                  <a:pt x="1682856" y="1845912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326046" y="8951105"/>
            <a:ext cx="1682856" cy="1845911"/>
          </a:xfrm>
          <a:custGeom>
            <a:avLst/>
            <a:gdLst/>
            <a:ahLst/>
            <a:cxnLst/>
            <a:rect r="r" b="b" t="t" l="l"/>
            <a:pathLst>
              <a:path h="1845911" w="1682856">
                <a:moveTo>
                  <a:pt x="0" y="0"/>
                </a:moveTo>
                <a:lnTo>
                  <a:pt x="1682856" y="0"/>
                </a:lnTo>
                <a:lnTo>
                  <a:pt x="1682856" y="1845911"/>
                </a:lnTo>
                <a:lnTo>
                  <a:pt x="0" y="18459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017940">
            <a:off x="16670810" y="5992839"/>
            <a:ext cx="2647083" cy="2021409"/>
          </a:xfrm>
          <a:custGeom>
            <a:avLst/>
            <a:gdLst/>
            <a:ahLst/>
            <a:cxnLst/>
            <a:rect r="r" b="b" t="t" l="l"/>
            <a:pathLst>
              <a:path h="2021409" w="2647083">
                <a:moveTo>
                  <a:pt x="0" y="0"/>
                </a:moveTo>
                <a:lnTo>
                  <a:pt x="2647083" y="0"/>
                </a:lnTo>
                <a:lnTo>
                  <a:pt x="2647083" y="2021408"/>
                </a:lnTo>
                <a:lnTo>
                  <a:pt x="0" y="20214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-2017940">
            <a:off x="-1031598" y="2271015"/>
            <a:ext cx="2647083" cy="2021409"/>
          </a:xfrm>
          <a:custGeom>
            <a:avLst/>
            <a:gdLst/>
            <a:ahLst/>
            <a:cxnLst/>
            <a:rect r="r" b="b" t="t" l="l"/>
            <a:pathLst>
              <a:path h="2021409" w="2647083">
                <a:moveTo>
                  <a:pt x="2647082" y="2021408"/>
                </a:moveTo>
                <a:lnTo>
                  <a:pt x="0" y="2021408"/>
                </a:lnTo>
                <a:lnTo>
                  <a:pt x="0" y="0"/>
                </a:lnTo>
                <a:lnTo>
                  <a:pt x="2647082" y="0"/>
                </a:lnTo>
                <a:lnTo>
                  <a:pt x="2647082" y="2021408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75609" y="519578"/>
            <a:ext cx="17136781" cy="9247843"/>
            <a:chOff x="0" y="0"/>
            <a:chExt cx="4513391" cy="24356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13391" cy="2435646"/>
            </a:xfrm>
            <a:custGeom>
              <a:avLst/>
              <a:gdLst/>
              <a:ahLst/>
              <a:cxnLst/>
              <a:rect r="r" b="b" t="t" l="l"/>
              <a:pathLst>
                <a:path h="2435646" w="4513391">
                  <a:moveTo>
                    <a:pt x="16264" y="0"/>
                  </a:moveTo>
                  <a:lnTo>
                    <a:pt x="4497127" y="0"/>
                  </a:lnTo>
                  <a:cubicBezTo>
                    <a:pt x="4506109" y="0"/>
                    <a:pt x="4513391" y="7282"/>
                    <a:pt x="4513391" y="16264"/>
                  </a:cubicBezTo>
                  <a:lnTo>
                    <a:pt x="4513391" y="2419382"/>
                  </a:lnTo>
                  <a:cubicBezTo>
                    <a:pt x="4513391" y="2428364"/>
                    <a:pt x="4506109" y="2435646"/>
                    <a:pt x="4497127" y="2435646"/>
                  </a:cubicBezTo>
                  <a:lnTo>
                    <a:pt x="16264" y="2435646"/>
                  </a:lnTo>
                  <a:cubicBezTo>
                    <a:pt x="7282" y="2435646"/>
                    <a:pt x="0" y="2428364"/>
                    <a:pt x="0" y="2419382"/>
                  </a:cubicBezTo>
                  <a:lnTo>
                    <a:pt x="0" y="16264"/>
                  </a:lnTo>
                  <a:cubicBezTo>
                    <a:pt x="0" y="7282"/>
                    <a:pt x="7282" y="0"/>
                    <a:pt x="16264" y="0"/>
                  </a:cubicBezTo>
                  <a:close/>
                </a:path>
              </a:pathLst>
            </a:custGeom>
            <a:solidFill>
              <a:srgbClr val="EAEAEA">
                <a:alpha val="84706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513391" cy="2483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id="101" name="Cabeçalho 101"/>
          <p:cNvSpPr txBox="1"/>
          <p:nvPr/>
        </p:nvSpPr>
        <p:spPr>
          <a:xfrm>
            <a:off x="1024128" y="932688"/>
            <a:ext cx="1353312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 xml:space="preserve">Apresentado por  </a:t>
            </a:r>
            <a:r>
              <a:rPr lang="pt-BR" sz="1900" b="1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Matheus Rosa, Gabriely Paixão, Yvana Lopes, Milena Vitória e Myriam Caires</a:t>
            </a:r>
          </a:p>
        </p:txBody>
      </p:sp>
      <p:sp>
        <p:nvSpPr>
          <p:cNvPr id="102" name="Ano 102"/>
          <p:cNvSpPr txBox="1"/>
          <p:nvPr/>
        </p:nvSpPr>
        <p:spPr>
          <a:xfrm>
            <a:off x="15453360" y="932688"/>
            <a:ext cx="181051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spc="400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2026</a:t>
            </a:r>
          </a:p>
        </p:txBody>
      </p:sp>
      <p:sp>
        <p:nvSpPr>
          <p:cNvPr id="103" name="Rodapé 103"/>
          <p:cNvSpPr txBox="1"/>
          <p:nvPr/>
        </p:nvSpPr>
        <p:spPr>
          <a:xfrm>
            <a:off x="1024128" y="8887968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>Microbiologia  |  Salmonella</a:t>
            </a:r>
          </a:p>
        </p:txBody>
      </p:sp>
      <p:sp>
        <p:nvSpPr>
          <p:cNvPr id="104" name="Página 104"/>
          <p:cNvSpPr txBox="1"/>
          <p:nvPr/>
        </p:nvSpPr>
        <p:spPr>
          <a:xfrm>
            <a:off x="13624560" y="8887968"/>
            <a:ext cx="363931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 spc="400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PÁGINA 04</a:t>
            </a:r>
          </a:p>
        </p:txBody>
      </p:sp>
      <p:sp>
        <p:nvSpPr>
          <p:cNvPr id="105" name="Título 105"/>
          <p:cNvSpPr txBox="1"/>
          <p:nvPr/>
        </p:nvSpPr>
        <p:spPr>
          <a:xfrm>
            <a:off x="1828800" y="1645920"/>
            <a:ext cx="14630400" cy="1188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0">
                <a:solidFill>
                  <a:srgbClr val="3E721D"/>
                </a:solidFill>
                <a:latin typeface="Lilita One"/>
                <a:ea typeface="Lilita One"/>
                <a:cs typeface="Lilita One"/>
                <a:sym typeface="Lilita One"/>
              </a:rPr>
              <a:t>CLASSIFICAÇÃO TAXONÔMICA</a:t>
            </a:r>
          </a:p>
        </p:txBody>
      </p:sp>
      <p:grpSp>
        <p:nvGrpSpPr>
          <p:cNvPr id="109" name="Nível 109"/>
          <p:cNvGrpSpPr/>
          <p:nvPr/>
        </p:nvGrpSpPr>
        <p:grpSpPr>
          <a:xfrm>
            <a:off x="1920240" y="3017520"/>
            <a:ext cx="7863840" cy="676656"/>
            <a:chOff x="1920240" y="3017520"/>
            <a:chExt cx="7863840" cy="676656"/>
          </a:xfrm>
        </p:grpSpPr>
        <p:sp>
          <p:nvSpPr>
            <p:cNvPr id="106" name="Cartão 106"/>
            <p:cNvSpPr/>
            <p:nvPr/>
          </p:nvSpPr>
          <p:spPr>
            <a:xfrm>
              <a:off x="1920240" y="3017520"/>
              <a:ext cx="7863840" cy="676656"/>
            </a:xfrm>
            <a:prstGeom prst="roundRect">
              <a:avLst>
                <a:gd name="adj" fmla="val 16216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7" name="Texto 107"/>
            <p:cNvSpPr txBox="1"/>
            <p:nvPr/>
          </p:nvSpPr>
          <p:spPr>
            <a:xfrm>
              <a:off x="2194560" y="3017520"/>
              <a:ext cx="1920240" cy="676656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5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DOMÍNIO</a:t>
              </a:r>
            </a:p>
          </p:txBody>
        </p:sp>
        <p:sp>
          <p:nvSpPr>
            <p:cNvPr id="108" name="Texto 108"/>
            <p:cNvSpPr txBox="1"/>
            <p:nvPr/>
          </p:nvSpPr>
          <p:spPr>
            <a:xfrm>
              <a:off x="4114800" y="3017520"/>
              <a:ext cx="5532120" cy="676656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2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Bacteria</a:t>
              </a:r>
            </a:p>
          </p:txBody>
        </p:sp>
      </p:grpSp>
      <p:grpSp>
        <p:nvGrpSpPr>
          <p:cNvPr id="113" name="Nível 113"/>
          <p:cNvGrpSpPr/>
          <p:nvPr/>
        </p:nvGrpSpPr>
        <p:grpSpPr>
          <a:xfrm>
            <a:off x="2331720" y="3803904"/>
            <a:ext cx="7863840" cy="676656"/>
            <a:chOff x="2331720" y="3803904"/>
            <a:chExt cx="7863840" cy="676656"/>
          </a:xfrm>
        </p:grpSpPr>
        <p:sp>
          <p:nvSpPr>
            <p:cNvPr id="110" name="Cartão 110"/>
            <p:cNvSpPr/>
            <p:nvPr/>
          </p:nvSpPr>
          <p:spPr>
            <a:xfrm>
              <a:off x="2331720" y="3803904"/>
              <a:ext cx="7863840" cy="676656"/>
            </a:xfrm>
            <a:prstGeom prst="roundRect">
              <a:avLst>
                <a:gd name="adj" fmla="val 16216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1" name="Texto 111"/>
            <p:cNvSpPr txBox="1"/>
            <p:nvPr/>
          </p:nvSpPr>
          <p:spPr>
            <a:xfrm>
              <a:off x="2606040" y="3803904"/>
              <a:ext cx="1920240" cy="676656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5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FILO</a:t>
              </a:r>
            </a:p>
          </p:txBody>
        </p:sp>
        <p:sp>
          <p:nvSpPr>
            <p:cNvPr id="112" name="Texto 112"/>
            <p:cNvSpPr txBox="1"/>
            <p:nvPr/>
          </p:nvSpPr>
          <p:spPr>
            <a:xfrm>
              <a:off x="4526280" y="3803904"/>
              <a:ext cx="5532120" cy="676656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2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Pseudomonadota </a:t>
              </a:r>
              <a:r>
                <a:rPr lang="pt-BR" sz="17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(antigo Proteobacteria)</a:t>
              </a:r>
            </a:p>
          </p:txBody>
        </p:sp>
      </p:grpSp>
      <p:grpSp>
        <p:nvGrpSpPr>
          <p:cNvPr id="117" name="Nível 117"/>
          <p:cNvGrpSpPr/>
          <p:nvPr/>
        </p:nvGrpSpPr>
        <p:grpSpPr>
          <a:xfrm>
            <a:off x="2743200" y="4590288"/>
            <a:ext cx="7863840" cy="676656"/>
            <a:chOff x="2743200" y="4590288"/>
            <a:chExt cx="7863840" cy="676656"/>
          </a:xfrm>
        </p:grpSpPr>
        <p:sp>
          <p:nvSpPr>
            <p:cNvPr id="114" name="Cartão 114"/>
            <p:cNvSpPr/>
            <p:nvPr/>
          </p:nvSpPr>
          <p:spPr>
            <a:xfrm>
              <a:off x="2743200" y="4590288"/>
              <a:ext cx="7863840" cy="676656"/>
            </a:xfrm>
            <a:prstGeom prst="roundRect">
              <a:avLst>
                <a:gd name="adj" fmla="val 16216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5" name="Texto 115"/>
            <p:cNvSpPr txBox="1"/>
            <p:nvPr/>
          </p:nvSpPr>
          <p:spPr>
            <a:xfrm>
              <a:off x="3017520" y="4590288"/>
              <a:ext cx="1920240" cy="676656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5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CLASSE</a:t>
              </a:r>
            </a:p>
          </p:txBody>
        </p:sp>
        <p:sp>
          <p:nvSpPr>
            <p:cNvPr id="116" name="Texto 116"/>
            <p:cNvSpPr txBox="1"/>
            <p:nvPr/>
          </p:nvSpPr>
          <p:spPr>
            <a:xfrm>
              <a:off x="4937760" y="4590288"/>
              <a:ext cx="5532120" cy="676656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2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Gammaproteobacteria</a:t>
              </a:r>
            </a:p>
          </p:txBody>
        </p:sp>
      </p:grpSp>
      <p:grpSp>
        <p:nvGrpSpPr>
          <p:cNvPr id="121" name="Nível 121"/>
          <p:cNvGrpSpPr/>
          <p:nvPr/>
        </p:nvGrpSpPr>
        <p:grpSpPr>
          <a:xfrm>
            <a:off x="3154680" y="5376672"/>
            <a:ext cx="7863840" cy="676656"/>
            <a:chOff x="3154680" y="5376672"/>
            <a:chExt cx="7863840" cy="676656"/>
          </a:xfrm>
        </p:grpSpPr>
        <p:sp>
          <p:nvSpPr>
            <p:cNvPr id="118" name="Cartão 118"/>
            <p:cNvSpPr/>
            <p:nvPr/>
          </p:nvSpPr>
          <p:spPr>
            <a:xfrm>
              <a:off x="3154680" y="5376672"/>
              <a:ext cx="7863840" cy="676656"/>
            </a:xfrm>
            <a:prstGeom prst="roundRect">
              <a:avLst>
                <a:gd name="adj" fmla="val 16216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9" name="Texto 119"/>
            <p:cNvSpPr txBox="1"/>
            <p:nvPr/>
          </p:nvSpPr>
          <p:spPr>
            <a:xfrm>
              <a:off x="3429000" y="5376672"/>
              <a:ext cx="1920240" cy="676656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5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ORDEM</a:t>
              </a:r>
            </a:p>
          </p:txBody>
        </p:sp>
        <p:sp>
          <p:nvSpPr>
            <p:cNvPr id="120" name="Texto 120"/>
            <p:cNvSpPr txBox="1"/>
            <p:nvPr/>
          </p:nvSpPr>
          <p:spPr>
            <a:xfrm>
              <a:off x="5349240" y="5376672"/>
              <a:ext cx="5532120" cy="676656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2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Enterobacterales</a:t>
              </a:r>
            </a:p>
          </p:txBody>
        </p:sp>
      </p:grpSp>
      <p:grpSp>
        <p:nvGrpSpPr>
          <p:cNvPr id="125" name="Nível 125"/>
          <p:cNvGrpSpPr/>
          <p:nvPr/>
        </p:nvGrpSpPr>
        <p:grpSpPr>
          <a:xfrm>
            <a:off x="3566160" y="6163056"/>
            <a:ext cx="7863840" cy="676656"/>
            <a:chOff x="3566160" y="6163056"/>
            <a:chExt cx="7863840" cy="676656"/>
          </a:xfrm>
        </p:grpSpPr>
        <p:sp>
          <p:nvSpPr>
            <p:cNvPr id="122" name="Cartão 122"/>
            <p:cNvSpPr/>
            <p:nvPr/>
          </p:nvSpPr>
          <p:spPr>
            <a:xfrm>
              <a:off x="3566160" y="6163056"/>
              <a:ext cx="7863840" cy="676656"/>
            </a:xfrm>
            <a:prstGeom prst="roundRect">
              <a:avLst>
                <a:gd name="adj" fmla="val 16216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23" name="Texto 123"/>
            <p:cNvSpPr txBox="1"/>
            <p:nvPr/>
          </p:nvSpPr>
          <p:spPr>
            <a:xfrm>
              <a:off x="3840480" y="6163056"/>
              <a:ext cx="1920240" cy="676656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5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FAMÍLIA</a:t>
              </a:r>
            </a:p>
          </p:txBody>
        </p:sp>
        <p:sp>
          <p:nvSpPr>
            <p:cNvPr id="124" name="Texto 124"/>
            <p:cNvSpPr txBox="1"/>
            <p:nvPr/>
          </p:nvSpPr>
          <p:spPr>
            <a:xfrm>
              <a:off x="5760720" y="6163056"/>
              <a:ext cx="5532120" cy="676656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2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Enterobacteriaceae</a:t>
              </a:r>
            </a:p>
          </p:txBody>
        </p:sp>
      </p:grpSp>
      <p:grpSp>
        <p:nvGrpSpPr>
          <p:cNvPr id="129" name="Nível 129"/>
          <p:cNvGrpSpPr/>
          <p:nvPr/>
        </p:nvGrpSpPr>
        <p:grpSpPr>
          <a:xfrm>
            <a:off x="3977640" y="6949440"/>
            <a:ext cx="7863840" cy="676656"/>
            <a:chOff x="3977640" y="6949440"/>
            <a:chExt cx="7863840" cy="676656"/>
          </a:xfrm>
        </p:grpSpPr>
        <p:sp>
          <p:nvSpPr>
            <p:cNvPr id="126" name="Cartão 126"/>
            <p:cNvSpPr/>
            <p:nvPr/>
          </p:nvSpPr>
          <p:spPr>
            <a:xfrm>
              <a:off x="3977640" y="6949440"/>
              <a:ext cx="7863840" cy="676656"/>
            </a:xfrm>
            <a:prstGeom prst="roundRect">
              <a:avLst>
                <a:gd name="adj" fmla="val 16216"/>
              </a:avLst>
            </a:prstGeom>
            <a:solidFill>
              <a:srgbClr val="C9DC9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27" name="Texto 127"/>
            <p:cNvSpPr txBox="1"/>
            <p:nvPr/>
          </p:nvSpPr>
          <p:spPr>
            <a:xfrm>
              <a:off x="4251960" y="6949440"/>
              <a:ext cx="1920240" cy="676656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5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GÊNERO</a:t>
              </a:r>
            </a:p>
          </p:txBody>
        </p:sp>
        <p:sp>
          <p:nvSpPr>
            <p:cNvPr id="128" name="Texto 128"/>
            <p:cNvSpPr txBox="1"/>
            <p:nvPr/>
          </p:nvSpPr>
          <p:spPr>
            <a:xfrm>
              <a:off x="6172200" y="6949440"/>
              <a:ext cx="5532120" cy="676656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200" i="1">
                  <a:solidFill>
                    <a:srgbClr val="3E721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Salmonella</a:t>
              </a:r>
            </a:p>
          </p:txBody>
        </p:sp>
      </p:grpSp>
      <p:grpSp>
        <p:nvGrpSpPr>
          <p:cNvPr id="133" name="Nível 133"/>
          <p:cNvGrpSpPr/>
          <p:nvPr/>
        </p:nvGrpSpPr>
        <p:grpSpPr>
          <a:xfrm>
            <a:off x="4389120" y="7735824"/>
            <a:ext cx="7863840" cy="676656"/>
            <a:chOff x="4389120" y="7735824"/>
            <a:chExt cx="7863840" cy="676656"/>
          </a:xfrm>
        </p:grpSpPr>
        <p:sp>
          <p:nvSpPr>
            <p:cNvPr id="130" name="Cartão 130"/>
            <p:cNvSpPr/>
            <p:nvPr/>
          </p:nvSpPr>
          <p:spPr>
            <a:xfrm>
              <a:off x="4389120" y="7735824"/>
              <a:ext cx="7863840" cy="676656"/>
            </a:xfrm>
            <a:prstGeom prst="roundRect">
              <a:avLst>
                <a:gd name="adj" fmla="val 16216"/>
              </a:avLst>
            </a:prstGeom>
            <a:solidFill>
              <a:srgbClr val="C9DC9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31" name="Texto 131"/>
            <p:cNvSpPr txBox="1"/>
            <p:nvPr/>
          </p:nvSpPr>
          <p:spPr>
            <a:xfrm>
              <a:off x="4663440" y="7735824"/>
              <a:ext cx="1920240" cy="676656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5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ESPÉCIES</a:t>
              </a:r>
            </a:p>
          </p:txBody>
        </p:sp>
        <p:sp>
          <p:nvSpPr>
            <p:cNvPr id="132" name="Texto 132"/>
            <p:cNvSpPr txBox="1"/>
            <p:nvPr/>
          </p:nvSpPr>
          <p:spPr>
            <a:xfrm>
              <a:off x="6583680" y="7735824"/>
              <a:ext cx="5532120" cy="676656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200" i="1">
                  <a:solidFill>
                    <a:srgbClr val="3E721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S. enterica</a:t>
              </a:r>
              <a:r>
                <a:rPr lang="pt-BR" sz="2200">
                  <a:solidFill>
                    <a:srgbClr val="3E721D"/>
                  </a:solidFill>
                  <a:latin typeface="Garet Bold"/>
                  <a:ea typeface="Garet Bold"/>
                  <a:cs typeface="Garet Bold"/>
                  <a:sym typeface="Garet Bold"/>
                </a:rPr>
                <a:t xml:space="preserve">  e  </a:t>
              </a:r>
              <a:r>
                <a:rPr lang="pt-BR" sz="2200" i="1">
                  <a:solidFill>
                    <a:srgbClr val="3E721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S. bongori</a:t>
              </a:r>
            </a:p>
          </p:txBody>
        </p:sp>
      </p:grpSp>
      <p:grpSp>
        <p:nvGrpSpPr>
          <p:cNvPr id="136" name="Nota 136"/>
          <p:cNvGrpSpPr/>
          <p:nvPr/>
        </p:nvGrpSpPr>
        <p:grpSpPr>
          <a:xfrm>
            <a:off x="11338560" y="3017520"/>
            <a:ext cx="5257800" cy="2926080"/>
            <a:chOff x="11338560" y="3017520"/>
            <a:chExt cx="5257800" cy="2926080"/>
          </a:xfrm>
        </p:grpSpPr>
        <p:sp>
          <p:nvSpPr>
            <p:cNvPr id="134" name="Cartão 134"/>
            <p:cNvSpPr/>
            <p:nvPr/>
          </p:nvSpPr>
          <p:spPr>
            <a:xfrm>
              <a:off x="11338560" y="3017520"/>
              <a:ext cx="5257800" cy="2926080"/>
            </a:xfrm>
            <a:prstGeom prst="roundRect">
              <a:avLst>
                <a:gd name="adj" fmla="val 3125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35" name="Texto 135"/>
            <p:cNvSpPr txBox="1"/>
            <p:nvPr/>
          </p:nvSpPr>
          <p:spPr>
            <a:xfrm>
              <a:off x="11704320" y="3291840"/>
              <a:ext cx="4526280" cy="24688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pt-BR" sz="30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Como se escreve?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O nome científico vai sempre em </a:t>
              </a:r>
              <a:r>
                <a:rPr lang="pt-BR" sz="2000" i="1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itálico</a:t>
              </a:r>
              <a:r>
                <a:rPr lang="pt-BR" sz="20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. O sorotipo vem depois, com inicial maiúscula e sem itálico: </a:t>
              </a:r>
              <a:r>
                <a:rPr lang="pt-BR" sz="2000" i="1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S. enterica</a:t>
              </a:r>
              <a:r>
                <a:rPr lang="pt-BR" sz="20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 sorotipo Typhimurium, ou só </a:t>
              </a:r>
              <a:r>
                <a:rPr lang="pt-BR" sz="2000" i="1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S.</a:t>
              </a:r>
              <a:r>
                <a:rPr lang="pt-BR" sz="20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 Typhimurium.</a:t>
              </a: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</p:bld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86402">
            <a:off x="-522939" y="-367883"/>
            <a:ext cx="3377819" cy="2794377"/>
          </a:xfrm>
          <a:custGeom>
            <a:avLst/>
            <a:gdLst/>
            <a:ahLst/>
            <a:cxnLst/>
            <a:rect r="r" b="b" t="t" l="l"/>
            <a:pathLst>
              <a:path h="2794377" w="3377819">
                <a:moveTo>
                  <a:pt x="0" y="0"/>
                </a:moveTo>
                <a:lnTo>
                  <a:pt x="3377819" y="0"/>
                </a:lnTo>
                <a:lnTo>
                  <a:pt x="3377819" y="2794377"/>
                </a:lnTo>
                <a:lnTo>
                  <a:pt x="0" y="27943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493517">
            <a:off x="15427516" y="7870636"/>
            <a:ext cx="3377819" cy="2794377"/>
          </a:xfrm>
          <a:custGeom>
            <a:avLst/>
            <a:gdLst/>
            <a:ahLst/>
            <a:cxnLst/>
            <a:rect r="r" b="b" t="t" l="l"/>
            <a:pathLst>
              <a:path h="2794377" w="3377819">
                <a:moveTo>
                  <a:pt x="3377818" y="2794378"/>
                </a:moveTo>
                <a:lnTo>
                  <a:pt x="0" y="2794378"/>
                </a:lnTo>
                <a:lnTo>
                  <a:pt x="0" y="0"/>
                </a:lnTo>
                <a:lnTo>
                  <a:pt x="3377818" y="0"/>
                </a:lnTo>
                <a:lnTo>
                  <a:pt x="3377818" y="2794378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11420">
            <a:off x="-1223133" y="7592707"/>
            <a:ext cx="3922436" cy="3922436"/>
          </a:xfrm>
          <a:custGeom>
            <a:avLst/>
            <a:gdLst/>
            <a:ahLst/>
            <a:cxnLst/>
            <a:rect r="r" b="b" t="t" l="l"/>
            <a:pathLst>
              <a:path h="3922436" w="3922436">
                <a:moveTo>
                  <a:pt x="0" y="0"/>
                </a:moveTo>
                <a:lnTo>
                  <a:pt x="3922436" y="0"/>
                </a:lnTo>
                <a:lnTo>
                  <a:pt x="3922436" y="3922436"/>
                </a:lnTo>
                <a:lnTo>
                  <a:pt x="0" y="3922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1317334">
            <a:off x="15593357" y="-1229411"/>
            <a:ext cx="3922436" cy="3922436"/>
          </a:xfrm>
          <a:custGeom>
            <a:avLst/>
            <a:gdLst/>
            <a:ahLst/>
            <a:cxnLst/>
            <a:rect r="r" b="b" t="t" l="l"/>
            <a:pathLst>
              <a:path h="3922436" w="3922436">
                <a:moveTo>
                  <a:pt x="3922436" y="3922436"/>
                </a:moveTo>
                <a:lnTo>
                  <a:pt x="0" y="3922436"/>
                </a:lnTo>
                <a:lnTo>
                  <a:pt x="0" y="0"/>
                </a:lnTo>
                <a:lnTo>
                  <a:pt x="3922436" y="0"/>
                </a:lnTo>
                <a:lnTo>
                  <a:pt x="3922436" y="3922436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302437">
            <a:off x="1854647" y="8837398"/>
            <a:ext cx="2867640" cy="2400454"/>
          </a:xfrm>
          <a:custGeom>
            <a:avLst/>
            <a:gdLst/>
            <a:ahLst/>
            <a:cxnLst/>
            <a:rect r="r" b="b" t="t" l="l"/>
            <a:pathLst>
              <a:path h="2400454" w="2867640">
                <a:moveTo>
                  <a:pt x="2867641" y="2400454"/>
                </a:moveTo>
                <a:lnTo>
                  <a:pt x="0" y="2400454"/>
                </a:lnTo>
                <a:lnTo>
                  <a:pt x="0" y="0"/>
                </a:lnTo>
                <a:lnTo>
                  <a:pt x="2867641" y="0"/>
                </a:lnTo>
                <a:lnTo>
                  <a:pt x="2867641" y="2400454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02437">
            <a:off x="13568501" y="-789560"/>
            <a:ext cx="2867640" cy="2400454"/>
          </a:xfrm>
          <a:custGeom>
            <a:avLst/>
            <a:gdLst/>
            <a:ahLst/>
            <a:cxnLst/>
            <a:rect r="r" b="b" t="t" l="l"/>
            <a:pathLst>
              <a:path h="2400454" w="2867640">
                <a:moveTo>
                  <a:pt x="0" y="0"/>
                </a:moveTo>
                <a:lnTo>
                  <a:pt x="2867640" y="0"/>
                </a:lnTo>
                <a:lnTo>
                  <a:pt x="2867640" y="2400454"/>
                </a:lnTo>
                <a:lnTo>
                  <a:pt x="0" y="24004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2272826" y="-512289"/>
            <a:ext cx="1682856" cy="1845911"/>
          </a:xfrm>
          <a:custGeom>
            <a:avLst/>
            <a:gdLst/>
            <a:ahLst/>
            <a:cxnLst/>
            <a:rect r="r" b="b" t="t" l="l"/>
            <a:pathLst>
              <a:path h="1845911" w="1682856">
                <a:moveTo>
                  <a:pt x="1682856" y="1845912"/>
                </a:moveTo>
                <a:lnTo>
                  <a:pt x="0" y="1845912"/>
                </a:lnTo>
                <a:lnTo>
                  <a:pt x="0" y="0"/>
                </a:lnTo>
                <a:lnTo>
                  <a:pt x="1682856" y="0"/>
                </a:lnTo>
                <a:lnTo>
                  <a:pt x="1682856" y="1845912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326046" y="8951105"/>
            <a:ext cx="1682856" cy="1845911"/>
          </a:xfrm>
          <a:custGeom>
            <a:avLst/>
            <a:gdLst/>
            <a:ahLst/>
            <a:cxnLst/>
            <a:rect r="r" b="b" t="t" l="l"/>
            <a:pathLst>
              <a:path h="1845911" w="1682856">
                <a:moveTo>
                  <a:pt x="0" y="0"/>
                </a:moveTo>
                <a:lnTo>
                  <a:pt x="1682856" y="0"/>
                </a:lnTo>
                <a:lnTo>
                  <a:pt x="1682856" y="1845911"/>
                </a:lnTo>
                <a:lnTo>
                  <a:pt x="0" y="18459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017940">
            <a:off x="16670810" y="5992839"/>
            <a:ext cx="2647083" cy="2021409"/>
          </a:xfrm>
          <a:custGeom>
            <a:avLst/>
            <a:gdLst/>
            <a:ahLst/>
            <a:cxnLst/>
            <a:rect r="r" b="b" t="t" l="l"/>
            <a:pathLst>
              <a:path h="2021409" w="2647083">
                <a:moveTo>
                  <a:pt x="0" y="0"/>
                </a:moveTo>
                <a:lnTo>
                  <a:pt x="2647083" y="0"/>
                </a:lnTo>
                <a:lnTo>
                  <a:pt x="2647083" y="2021408"/>
                </a:lnTo>
                <a:lnTo>
                  <a:pt x="0" y="20214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-2017940">
            <a:off x="-1031598" y="2271015"/>
            <a:ext cx="2647083" cy="2021409"/>
          </a:xfrm>
          <a:custGeom>
            <a:avLst/>
            <a:gdLst/>
            <a:ahLst/>
            <a:cxnLst/>
            <a:rect r="r" b="b" t="t" l="l"/>
            <a:pathLst>
              <a:path h="2021409" w="2647083">
                <a:moveTo>
                  <a:pt x="2647082" y="2021408"/>
                </a:moveTo>
                <a:lnTo>
                  <a:pt x="0" y="2021408"/>
                </a:lnTo>
                <a:lnTo>
                  <a:pt x="0" y="0"/>
                </a:lnTo>
                <a:lnTo>
                  <a:pt x="2647082" y="0"/>
                </a:lnTo>
                <a:lnTo>
                  <a:pt x="2647082" y="2021408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75609" y="519578"/>
            <a:ext cx="17136781" cy="9247843"/>
            <a:chOff x="0" y="0"/>
            <a:chExt cx="4513391" cy="24356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13391" cy="2435646"/>
            </a:xfrm>
            <a:custGeom>
              <a:avLst/>
              <a:gdLst/>
              <a:ahLst/>
              <a:cxnLst/>
              <a:rect r="r" b="b" t="t" l="l"/>
              <a:pathLst>
                <a:path h="2435646" w="4513391">
                  <a:moveTo>
                    <a:pt x="16264" y="0"/>
                  </a:moveTo>
                  <a:lnTo>
                    <a:pt x="4497127" y="0"/>
                  </a:lnTo>
                  <a:cubicBezTo>
                    <a:pt x="4506109" y="0"/>
                    <a:pt x="4513391" y="7282"/>
                    <a:pt x="4513391" y="16264"/>
                  </a:cubicBezTo>
                  <a:lnTo>
                    <a:pt x="4513391" y="2419382"/>
                  </a:lnTo>
                  <a:cubicBezTo>
                    <a:pt x="4513391" y="2428364"/>
                    <a:pt x="4506109" y="2435646"/>
                    <a:pt x="4497127" y="2435646"/>
                  </a:cubicBezTo>
                  <a:lnTo>
                    <a:pt x="16264" y="2435646"/>
                  </a:lnTo>
                  <a:cubicBezTo>
                    <a:pt x="7282" y="2435646"/>
                    <a:pt x="0" y="2428364"/>
                    <a:pt x="0" y="2419382"/>
                  </a:cubicBezTo>
                  <a:lnTo>
                    <a:pt x="0" y="16264"/>
                  </a:lnTo>
                  <a:cubicBezTo>
                    <a:pt x="0" y="7282"/>
                    <a:pt x="7282" y="0"/>
                    <a:pt x="16264" y="0"/>
                  </a:cubicBezTo>
                  <a:close/>
                </a:path>
              </a:pathLst>
            </a:custGeom>
            <a:solidFill>
              <a:srgbClr val="EAEAEA">
                <a:alpha val="84706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513391" cy="2483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id="101" name="Cabeçalho 101"/>
          <p:cNvSpPr txBox="1"/>
          <p:nvPr/>
        </p:nvSpPr>
        <p:spPr>
          <a:xfrm>
            <a:off x="1024128" y="932688"/>
            <a:ext cx="1353312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 xml:space="preserve">Apresentado por  </a:t>
            </a:r>
            <a:r>
              <a:rPr lang="pt-BR" sz="1900" b="1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Matheus Rosa, Gabriely Paixão, Yvana Lopes, Milena Vitória e Myriam Caires</a:t>
            </a:r>
          </a:p>
        </p:txBody>
      </p:sp>
      <p:sp>
        <p:nvSpPr>
          <p:cNvPr id="102" name="Ano 102"/>
          <p:cNvSpPr txBox="1"/>
          <p:nvPr/>
        </p:nvSpPr>
        <p:spPr>
          <a:xfrm>
            <a:off x="15453360" y="932688"/>
            <a:ext cx="181051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spc="400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2026</a:t>
            </a:r>
          </a:p>
        </p:txBody>
      </p:sp>
      <p:sp>
        <p:nvSpPr>
          <p:cNvPr id="103" name="Rodapé 103"/>
          <p:cNvSpPr txBox="1"/>
          <p:nvPr/>
        </p:nvSpPr>
        <p:spPr>
          <a:xfrm>
            <a:off x="1024128" y="8887968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>Microbiologia  |  Salmonella</a:t>
            </a:r>
          </a:p>
        </p:txBody>
      </p:sp>
      <p:sp>
        <p:nvSpPr>
          <p:cNvPr id="104" name="Página 104"/>
          <p:cNvSpPr txBox="1"/>
          <p:nvPr/>
        </p:nvSpPr>
        <p:spPr>
          <a:xfrm>
            <a:off x="13624560" y="8887968"/>
            <a:ext cx="363931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 spc="400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PÁGINA 05</a:t>
            </a:r>
          </a:p>
        </p:txBody>
      </p:sp>
      <p:sp>
        <p:nvSpPr>
          <p:cNvPr id="105" name="Título 105"/>
          <p:cNvSpPr txBox="1"/>
          <p:nvPr/>
        </p:nvSpPr>
        <p:spPr>
          <a:xfrm>
            <a:off x="1463040" y="2011680"/>
            <a:ext cx="5669280" cy="60350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0">
                <a:solidFill>
                  <a:srgbClr val="3E721D"/>
                </a:solidFill>
                <a:latin typeface="Lilita One"/>
                <a:ea typeface="Lilita One"/>
                <a:cs typeface="Lilita One"/>
                <a:sym typeface="Lilita One"/>
              </a:rPr>
              <a:t>ESPÉCIES E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0">
                <a:solidFill>
                  <a:srgbClr val="3E721D"/>
                </a:solidFill>
                <a:latin typeface="Lilita One"/>
                <a:ea typeface="Lilita One"/>
                <a:cs typeface="Lilita One"/>
                <a:sym typeface="Lilita One"/>
              </a:rPr>
              <a:t>SOROTIPOS</a:t>
            </a:r>
          </a:p>
        </p:txBody>
      </p:sp>
      <p:grpSp>
        <p:nvGrpSpPr>
          <p:cNvPr id="108" name="Cartão 108"/>
          <p:cNvGrpSpPr/>
          <p:nvPr/>
        </p:nvGrpSpPr>
        <p:grpSpPr>
          <a:xfrm>
            <a:off x="7315200" y="1737360"/>
            <a:ext cx="4663440" cy="3246120"/>
            <a:chOff x="7315200" y="1737360"/>
            <a:chExt cx="4663440" cy="3246120"/>
          </a:xfrm>
        </p:grpSpPr>
        <p:sp>
          <p:nvSpPr>
            <p:cNvPr id="106" name="Cartão 106"/>
            <p:cNvSpPr/>
            <p:nvPr/>
          </p:nvSpPr>
          <p:spPr>
            <a:xfrm>
              <a:off x="7315200" y="1737360"/>
              <a:ext cx="4663440" cy="3246120"/>
            </a:xfrm>
            <a:prstGeom prst="roundRect">
              <a:avLst>
                <a:gd name="adj" fmla="val 2816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7" name="Texto 107"/>
            <p:cNvSpPr txBox="1"/>
            <p:nvPr/>
          </p:nvSpPr>
          <p:spPr>
            <a:xfrm>
              <a:off x="7635240" y="2011680"/>
              <a:ext cx="4023360" cy="27889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pt-BR" sz="3000" i="1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S. enterica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A espécie mais importante, com 6 subespécies. A subsp. </a:t>
              </a:r>
              <a:r>
                <a:rPr lang="pt-BR" sz="2000" i="1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enterica</a:t>
              </a:r>
              <a:r>
                <a:rPr lang="pt-BR" sz="20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 causa cerca de 99% das infecções em humanos e animais de sangue quente.</a:t>
              </a:r>
            </a:p>
          </p:txBody>
        </p:sp>
      </p:grpSp>
      <p:grpSp>
        <p:nvGrpSpPr>
          <p:cNvPr id="111" name="Cartão 111"/>
          <p:cNvGrpSpPr/>
          <p:nvPr/>
        </p:nvGrpSpPr>
        <p:grpSpPr>
          <a:xfrm>
            <a:off x="12252960" y="1737360"/>
            <a:ext cx="4663440" cy="3246120"/>
            <a:chOff x="12252960" y="1737360"/>
            <a:chExt cx="4663440" cy="3246120"/>
          </a:xfrm>
        </p:grpSpPr>
        <p:sp>
          <p:nvSpPr>
            <p:cNvPr id="109" name="Cartão 109"/>
            <p:cNvSpPr/>
            <p:nvPr/>
          </p:nvSpPr>
          <p:spPr>
            <a:xfrm>
              <a:off x="12252960" y="1737360"/>
              <a:ext cx="4663440" cy="3246120"/>
            </a:xfrm>
            <a:prstGeom prst="roundRect">
              <a:avLst>
                <a:gd name="adj" fmla="val 2816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0" name="Texto 110"/>
            <p:cNvSpPr txBox="1"/>
            <p:nvPr/>
          </p:nvSpPr>
          <p:spPr>
            <a:xfrm>
              <a:off x="12573000" y="2011680"/>
              <a:ext cx="4023360" cy="27889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pt-BR" sz="3000" i="1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S. bongori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Encontrada principalmente em animais de sangue frio, como os répteis. Raramente causa doença em humanos.</a:t>
              </a:r>
            </a:p>
          </p:txBody>
        </p:sp>
      </p:grpSp>
      <p:grpSp>
        <p:nvGrpSpPr>
          <p:cNvPr id="114" name="Cartão 114"/>
          <p:cNvGrpSpPr/>
          <p:nvPr/>
        </p:nvGrpSpPr>
        <p:grpSpPr>
          <a:xfrm>
            <a:off x="7315200" y="5257800"/>
            <a:ext cx="4663440" cy="3246120"/>
            <a:chOff x="7315200" y="5257800"/>
            <a:chExt cx="4663440" cy="3246120"/>
          </a:xfrm>
        </p:grpSpPr>
        <p:sp>
          <p:nvSpPr>
            <p:cNvPr id="112" name="Cartão 112"/>
            <p:cNvSpPr/>
            <p:nvPr/>
          </p:nvSpPr>
          <p:spPr>
            <a:xfrm>
              <a:off x="7315200" y="5257800"/>
              <a:ext cx="4663440" cy="3246120"/>
            </a:xfrm>
            <a:prstGeom prst="roundRect">
              <a:avLst>
                <a:gd name="adj" fmla="val 2816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3" name="Texto 113"/>
            <p:cNvSpPr txBox="1"/>
            <p:nvPr/>
          </p:nvSpPr>
          <p:spPr>
            <a:xfrm>
              <a:off x="7635240" y="5532120"/>
              <a:ext cx="4023360" cy="27889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pt-BR" sz="30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+ de 2.600 sorotipos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Esquema Kauffmann-White: são diferenciados pelos antígenos O (parede celular), H (flagelos) e Vi (cápsula).</a:t>
              </a:r>
            </a:p>
          </p:txBody>
        </p:sp>
      </p:grpSp>
      <p:grpSp>
        <p:nvGrpSpPr>
          <p:cNvPr id="117" name="Cartão 117"/>
          <p:cNvGrpSpPr/>
          <p:nvPr/>
        </p:nvGrpSpPr>
        <p:grpSpPr>
          <a:xfrm>
            <a:off x="12252960" y="5257800"/>
            <a:ext cx="4663440" cy="3246120"/>
            <a:chOff x="12252960" y="5257800"/>
            <a:chExt cx="4663440" cy="3246120"/>
          </a:xfrm>
        </p:grpSpPr>
        <p:sp>
          <p:nvSpPr>
            <p:cNvPr id="115" name="Cartão 115"/>
            <p:cNvSpPr/>
            <p:nvPr/>
          </p:nvSpPr>
          <p:spPr>
            <a:xfrm>
              <a:off x="12252960" y="5257800"/>
              <a:ext cx="4663440" cy="3246120"/>
            </a:xfrm>
            <a:prstGeom prst="roundRect">
              <a:avLst>
                <a:gd name="adj" fmla="val 2816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6" name="Texto 116"/>
            <p:cNvSpPr txBox="1"/>
            <p:nvPr/>
          </p:nvSpPr>
          <p:spPr>
            <a:xfrm>
              <a:off x="12573000" y="5532120"/>
              <a:ext cx="4023360" cy="27889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pt-BR" sz="30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Tifoides x não tifoides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Typhi e Paratyphi causam a febre entérica; Enteritidis e Typhimurium são os mais comuns em surtos alimentares.</a:t>
              </a: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</p:bld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86402">
            <a:off x="-522939" y="-367883"/>
            <a:ext cx="3377819" cy="2794377"/>
          </a:xfrm>
          <a:custGeom>
            <a:avLst/>
            <a:gdLst/>
            <a:ahLst/>
            <a:cxnLst/>
            <a:rect r="r" b="b" t="t" l="l"/>
            <a:pathLst>
              <a:path h="2794377" w="3377819">
                <a:moveTo>
                  <a:pt x="0" y="0"/>
                </a:moveTo>
                <a:lnTo>
                  <a:pt x="3377819" y="0"/>
                </a:lnTo>
                <a:lnTo>
                  <a:pt x="3377819" y="2794377"/>
                </a:lnTo>
                <a:lnTo>
                  <a:pt x="0" y="27943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493517">
            <a:off x="15427516" y="7870636"/>
            <a:ext cx="3377819" cy="2794377"/>
          </a:xfrm>
          <a:custGeom>
            <a:avLst/>
            <a:gdLst/>
            <a:ahLst/>
            <a:cxnLst/>
            <a:rect r="r" b="b" t="t" l="l"/>
            <a:pathLst>
              <a:path h="2794377" w="3377819">
                <a:moveTo>
                  <a:pt x="3377818" y="2794378"/>
                </a:moveTo>
                <a:lnTo>
                  <a:pt x="0" y="2794378"/>
                </a:lnTo>
                <a:lnTo>
                  <a:pt x="0" y="0"/>
                </a:lnTo>
                <a:lnTo>
                  <a:pt x="3377818" y="0"/>
                </a:lnTo>
                <a:lnTo>
                  <a:pt x="3377818" y="2794378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11420">
            <a:off x="-1223133" y="7592707"/>
            <a:ext cx="3922436" cy="3922436"/>
          </a:xfrm>
          <a:custGeom>
            <a:avLst/>
            <a:gdLst/>
            <a:ahLst/>
            <a:cxnLst/>
            <a:rect r="r" b="b" t="t" l="l"/>
            <a:pathLst>
              <a:path h="3922436" w="3922436">
                <a:moveTo>
                  <a:pt x="0" y="0"/>
                </a:moveTo>
                <a:lnTo>
                  <a:pt x="3922436" y="0"/>
                </a:lnTo>
                <a:lnTo>
                  <a:pt x="3922436" y="3922436"/>
                </a:lnTo>
                <a:lnTo>
                  <a:pt x="0" y="3922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1317334">
            <a:off x="15593357" y="-1229411"/>
            <a:ext cx="3922436" cy="3922436"/>
          </a:xfrm>
          <a:custGeom>
            <a:avLst/>
            <a:gdLst/>
            <a:ahLst/>
            <a:cxnLst/>
            <a:rect r="r" b="b" t="t" l="l"/>
            <a:pathLst>
              <a:path h="3922436" w="3922436">
                <a:moveTo>
                  <a:pt x="3922436" y="3922436"/>
                </a:moveTo>
                <a:lnTo>
                  <a:pt x="0" y="3922436"/>
                </a:lnTo>
                <a:lnTo>
                  <a:pt x="0" y="0"/>
                </a:lnTo>
                <a:lnTo>
                  <a:pt x="3922436" y="0"/>
                </a:lnTo>
                <a:lnTo>
                  <a:pt x="3922436" y="3922436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302437">
            <a:off x="1854647" y="8837398"/>
            <a:ext cx="2867640" cy="2400454"/>
          </a:xfrm>
          <a:custGeom>
            <a:avLst/>
            <a:gdLst/>
            <a:ahLst/>
            <a:cxnLst/>
            <a:rect r="r" b="b" t="t" l="l"/>
            <a:pathLst>
              <a:path h="2400454" w="2867640">
                <a:moveTo>
                  <a:pt x="2867641" y="2400454"/>
                </a:moveTo>
                <a:lnTo>
                  <a:pt x="0" y="2400454"/>
                </a:lnTo>
                <a:lnTo>
                  <a:pt x="0" y="0"/>
                </a:lnTo>
                <a:lnTo>
                  <a:pt x="2867641" y="0"/>
                </a:lnTo>
                <a:lnTo>
                  <a:pt x="2867641" y="2400454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02437">
            <a:off x="13568501" y="-789560"/>
            <a:ext cx="2867640" cy="2400454"/>
          </a:xfrm>
          <a:custGeom>
            <a:avLst/>
            <a:gdLst/>
            <a:ahLst/>
            <a:cxnLst/>
            <a:rect r="r" b="b" t="t" l="l"/>
            <a:pathLst>
              <a:path h="2400454" w="2867640">
                <a:moveTo>
                  <a:pt x="0" y="0"/>
                </a:moveTo>
                <a:lnTo>
                  <a:pt x="2867640" y="0"/>
                </a:lnTo>
                <a:lnTo>
                  <a:pt x="2867640" y="2400454"/>
                </a:lnTo>
                <a:lnTo>
                  <a:pt x="0" y="24004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2272826" y="-512289"/>
            <a:ext cx="1682856" cy="1845911"/>
          </a:xfrm>
          <a:custGeom>
            <a:avLst/>
            <a:gdLst/>
            <a:ahLst/>
            <a:cxnLst/>
            <a:rect r="r" b="b" t="t" l="l"/>
            <a:pathLst>
              <a:path h="1845911" w="1682856">
                <a:moveTo>
                  <a:pt x="1682856" y="1845912"/>
                </a:moveTo>
                <a:lnTo>
                  <a:pt x="0" y="1845912"/>
                </a:lnTo>
                <a:lnTo>
                  <a:pt x="0" y="0"/>
                </a:lnTo>
                <a:lnTo>
                  <a:pt x="1682856" y="0"/>
                </a:lnTo>
                <a:lnTo>
                  <a:pt x="1682856" y="1845912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326046" y="8951105"/>
            <a:ext cx="1682856" cy="1845911"/>
          </a:xfrm>
          <a:custGeom>
            <a:avLst/>
            <a:gdLst/>
            <a:ahLst/>
            <a:cxnLst/>
            <a:rect r="r" b="b" t="t" l="l"/>
            <a:pathLst>
              <a:path h="1845911" w="1682856">
                <a:moveTo>
                  <a:pt x="0" y="0"/>
                </a:moveTo>
                <a:lnTo>
                  <a:pt x="1682856" y="0"/>
                </a:lnTo>
                <a:lnTo>
                  <a:pt x="1682856" y="1845911"/>
                </a:lnTo>
                <a:lnTo>
                  <a:pt x="0" y="18459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017940">
            <a:off x="16670810" y="5992839"/>
            <a:ext cx="2647083" cy="2021409"/>
          </a:xfrm>
          <a:custGeom>
            <a:avLst/>
            <a:gdLst/>
            <a:ahLst/>
            <a:cxnLst/>
            <a:rect r="r" b="b" t="t" l="l"/>
            <a:pathLst>
              <a:path h="2021409" w="2647083">
                <a:moveTo>
                  <a:pt x="0" y="0"/>
                </a:moveTo>
                <a:lnTo>
                  <a:pt x="2647083" y="0"/>
                </a:lnTo>
                <a:lnTo>
                  <a:pt x="2647083" y="2021408"/>
                </a:lnTo>
                <a:lnTo>
                  <a:pt x="0" y="20214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-2017940">
            <a:off x="-1031598" y="2271015"/>
            <a:ext cx="2647083" cy="2021409"/>
          </a:xfrm>
          <a:custGeom>
            <a:avLst/>
            <a:gdLst/>
            <a:ahLst/>
            <a:cxnLst/>
            <a:rect r="r" b="b" t="t" l="l"/>
            <a:pathLst>
              <a:path h="2021409" w="2647083">
                <a:moveTo>
                  <a:pt x="2647082" y="2021408"/>
                </a:moveTo>
                <a:lnTo>
                  <a:pt x="0" y="2021408"/>
                </a:lnTo>
                <a:lnTo>
                  <a:pt x="0" y="0"/>
                </a:lnTo>
                <a:lnTo>
                  <a:pt x="2647082" y="0"/>
                </a:lnTo>
                <a:lnTo>
                  <a:pt x="2647082" y="2021408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75609" y="519578"/>
            <a:ext cx="17136781" cy="9247843"/>
            <a:chOff x="0" y="0"/>
            <a:chExt cx="4513391" cy="24356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13391" cy="2435646"/>
            </a:xfrm>
            <a:custGeom>
              <a:avLst/>
              <a:gdLst/>
              <a:ahLst/>
              <a:cxnLst/>
              <a:rect r="r" b="b" t="t" l="l"/>
              <a:pathLst>
                <a:path h="2435646" w="4513391">
                  <a:moveTo>
                    <a:pt x="16264" y="0"/>
                  </a:moveTo>
                  <a:lnTo>
                    <a:pt x="4497127" y="0"/>
                  </a:lnTo>
                  <a:cubicBezTo>
                    <a:pt x="4506109" y="0"/>
                    <a:pt x="4513391" y="7282"/>
                    <a:pt x="4513391" y="16264"/>
                  </a:cubicBezTo>
                  <a:lnTo>
                    <a:pt x="4513391" y="2419382"/>
                  </a:lnTo>
                  <a:cubicBezTo>
                    <a:pt x="4513391" y="2428364"/>
                    <a:pt x="4506109" y="2435646"/>
                    <a:pt x="4497127" y="2435646"/>
                  </a:cubicBezTo>
                  <a:lnTo>
                    <a:pt x="16264" y="2435646"/>
                  </a:lnTo>
                  <a:cubicBezTo>
                    <a:pt x="7282" y="2435646"/>
                    <a:pt x="0" y="2428364"/>
                    <a:pt x="0" y="2419382"/>
                  </a:cubicBezTo>
                  <a:lnTo>
                    <a:pt x="0" y="16264"/>
                  </a:lnTo>
                  <a:cubicBezTo>
                    <a:pt x="0" y="7282"/>
                    <a:pt x="7282" y="0"/>
                    <a:pt x="16264" y="0"/>
                  </a:cubicBezTo>
                  <a:close/>
                </a:path>
              </a:pathLst>
            </a:custGeom>
            <a:solidFill>
              <a:srgbClr val="EAEAEA">
                <a:alpha val="84706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513391" cy="2483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id="101" name="Cabeçalho 101"/>
          <p:cNvSpPr txBox="1"/>
          <p:nvPr/>
        </p:nvSpPr>
        <p:spPr>
          <a:xfrm>
            <a:off x="1024128" y="932688"/>
            <a:ext cx="1353312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 xml:space="preserve">Apresentado por  </a:t>
            </a:r>
            <a:r>
              <a:rPr lang="pt-BR" sz="1900" b="1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Matheus Rosa, Gabriely Paixão, Yvana Lopes, Milena Vitória e Myriam Caires</a:t>
            </a:r>
          </a:p>
        </p:txBody>
      </p:sp>
      <p:sp>
        <p:nvSpPr>
          <p:cNvPr id="102" name="Ano 102"/>
          <p:cNvSpPr txBox="1"/>
          <p:nvPr/>
        </p:nvSpPr>
        <p:spPr>
          <a:xfrm>
            <a:off x="15453360" y="932688"/>
            <a:ext cx="181051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spc="400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2026</a:t>
            </a:r>
          </a:p>
        </p:txBody>
      </p:sp>
      <p:sp>
        <p:nvSpPr>
          <p:cNvPr id="103" name="Rodapé 103"/>
          <p:cNvSpPr txBox="1"/>
          <p:nvPr/>
        </p:nvSpPr>
        <p:spPr>
          <a:xfrm>
            <a:off x="1024128" y="8887968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>Microbiologia  |  Salmonella</a:t>
            </a:r>
          </a:p>
        </p:txBody>
      </p:sp>
      <p:sp>
        <p:nvSpPr>
          <p:cNvPr id="104" name="Página 104"/>
          <p:cNvSpPr txBox="1"/>
          <p:nvPr/>
        </p:nvSpPr>
        <p:spPr>
          <a:xfrm>
            <a:off x="13624560" y="8887968"/>
            <a:ext cx="363931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 spc="400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PÁGINA 06</a:t>
            </a:r>
          </a:p>
        </p:txBody>
      </p:sp>
      <p:sp>
        <p:nvSpPr>
          <p:cNvPr id="105" name="Título 105"/>
          <p:cNvSpPr txBox="1"/>
          <p:nvPr/>
        </p:nvSpPr>
        <p:spPr>
          <a:xfrm>
            <a:off x="1463040" y="1828800"/>
            <a:ext cx="6400800" cy="356616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400">
                <a:solidFill>
                  <a:srgbClr val="3E721D"/>
                </a:solidFill>
                <a:latin typeface="Lilita One"/>
                <a:ea typeface="Lilita One"/>
                <a:cs typeface="Lilita One"/>
                <a:sym typeface="Lilita One"/>
              </a:rPr>
              <a:t>PERFIL DA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400">
                <a:solidFill>
                  <a:srgbClr val="3E721D"/>
                </a:solidFill>
                <a:latin typeface="Lilita One"/>
                <a:ea typeface="Lilita One"/>
                <a:cs typeface="Lilita One"/>
                <a:sym typeface="Lilita One"/>
              </a:rPr>
              <a:t>BACTÉRIA</a:t>
            </a:r>
          </a:p>
        </p:txBody>
      </p:sp>
      <p:sp>
        <p:nvSpPr>
          <p:cNvPr id="106" name="Texto 106"/>
          <p:cNvSpPr txBox="1"/>
          <p:nvPr/>
        </p:nvSpPr>
        <p:spPr>
          <a:xfrm>
            <a:off x="1463040" y="5669280"/>
            <a:ext cx="6035040" cy="2743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>Vive no intestino de aves, porcos, bois e répteis. É eliminada pelas fezes e pode contaminar a água, o solo e os alimentos.</a:t>
            </a:r>
          </a:p>
        </p:txBody>
      </p:sp>
      <p:grpSp>
        <p:nvGrpSpPr>
          <p:cNvPr id="110" name="Item 110"/>
          <p:cNvGrpSpPr/>
          <p:nvPr/>
        </p:nvGrpSpPr>
        <p:grpSpPr>
          <a:xfrm>
            <a:off x="8229600" y="2103120"/>
            <a:ext cx="8412480" cy="1874520"/>
            <a:chOff x="8229600" y="2103120"/>
            <a:chExt cx="8412480" cy="1874520"/>
          </a:xfrm>
        </p:grpSpPr>
        <p:sp>
          <p:nvSpPr>
            <p:cNvPr id="107" name="Cartão 107"/>
            <p:cNvSpPr/>
            <p:nvPr/>
          </p:nvSpPr>
          <p:spPr>
            <a:xfrm>
              <a:off x="8229600" y="2103120"/>
              <a:ext cx="8412480" cy="1874520"/>
            </a:xfrm>
            <a:prstGeom prst="roundRect">
              <a:avLst>
                <a:gd name="adj" fmla="val 4878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8" name="Texto 108"/>
            <p:cNvSpPr txBox="1"/>
            <p:nvPr/>
          </p:nvSpPr>
          <p:spPr>
            <a:xfrm>
              <a:off x="8503920" y="2103120"/>
              <a:ext cx="1097280" cy="1874520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4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01</a:t>
              </a:r>
            </a:p>
          </p:txBody>
        </p:sp>
        <p:sp>
          <p:nvSpPr>
            <p:cNvPr id="109" name="Texto 109"/>
            <p:cNvSpPr txBox="1"/>
            <p:nvPr/>
          </p:nvSpPr>
          <p:spPr>
            <a:xfrm>
              <a:off x="9646920" y="2103120"/>
              <a:ext cx="6720840" cy="1874520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1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Bacilo </a:t>
              </a:r>
              <a:r>
                <a:rPr lang="pt-BR" sz="2100" b="1">
                  <a:solidFill>
                    <a:srgbClr val="3E721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gram-negativo</a:t>
              </a:r>
              <a:r>
                <a:rPr lang="pt-BR" sz="21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 (forma de bastonete), que </a:t>
              </a:r>
              <a:r>
                <a:rPr lang="pt-BR" sz="2100" b="1">
                  <a:solidFill>
                    <a:srgbClr val="3E721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não forma esporos</a:t>
              </a:r>
              <a:r>
                <a:rPr lang="pt-BR" sz="21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 e mede cerca de 2 a 5 µm.</a:t>
              </a:r>
            </a:p>
          </p:txBody>
        </p:sp>
      </p:grpSp>
      <p:grpSp>
        <p:nvGrpSpPr>
          <p:cNvPr id="114" name="Item 114"/>
          <p:cNvGrpSpPr/>
          <p:nvPr/>
        </p:nvGrpSpPr>
        <p:grpSpPr>
          <a:xfrm>
            <a:off x="8229600" y="4206240"/>
            <a:ext cx="8412480" cy="1874520"/>
            <a:chOff x="8229600" y="4206240"/>
            <a:chExt cx="8412480" cy="1874520"/>
          </a:xfrm>
        </p:grpSpPr>
        <p:sp>
          <p:nvSpPr>
            <p:cNvPr id="111" name="Cartão 111"/>
            <p:cNvSpPr/>
            <p:nvPr/>
          </p:nvSpPr>
          <p:spPr>
            <a:xfrm>
              <a:off x="8229600" y="4206240"/>
              <a:ext cx="8412480" cy="1874520"/>
            </a:xfrm>
            <a:prstGeom prst="roundRect">
              <a:avLst>
                <a:gd name="adj" fmla="val 4878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2" name="Texto 112"/>
            <p:cNvSpPr txBox="1"/>
            <p:nvPr/>
          </p:nvSpPr>
          <p:spPr>
            <a:xfrm>
              <a:off x="8503920" y="4206240"/>
              <a:ext cx="1097280" cy="1874520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4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02</a:t>
              </a:r>
            </a:p>
          </p:txBody>
        </p:sp>
        <p:sp>
          <p:nvSpPr>
            <p:cNvPr id="113" name="Texto 113"/>
            <p:cNvSpPr txBox="1"/>
            <p:nvPr/>
          </p:nvSpPr>
          <p:spPr>
            <a:xfrm>
              <a:off x="9646920" y="4206240"/>
              <a:ext cx="6720840" cy="1874520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100" b="1">
                  <a:solidFill>
                    <a:srgbClr val="3E721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Anaeróbia facultativa</a:t>
              </a:r>
              <a:r>
                <a:rPr lang="pt-BR" sz="21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: vive com ou sem oxigênio. Em geral é </a:t>
              </a:r>
              <a:r>
                <a:rPr lang="pt-BR" sz="2100" b="1">
                  <a:solidFill>
                    <a:srgbClr val="3E721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móvel</a:t>
              </a:r>
              <a:r>
                <a:rPr lang="pt-BR" sz="21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, graças a flagelos espalhados pela célula.</a:t>
              </a:r>
            </a:p>
          </p:txBody>
        </p:sp>
      </p:grpSp>
      <p:grpSp>
        <p:nvGrpSpPr>
          <p:cNvPr id="118" name="Item 118"/>
          <p:cNvGrpSpPr/>
          <p:nvPr/>
        </p:nvGrpSpPr>
        <p:grpSpPr>
          <a:xfrm>
            <a:off x="8229600" y="6309360"/>
            <a:ext cx="8412480" cy="1874520"/>
            <a:chOff x="8229600" y="6309360"/>
            <a:chExt cx="8412480" cy="1874520"/>
          </a:xfrm>
        </p:grpSpPr>
        <p:sp>
          <p:nvSpPr>
            <p:cNvPr id="115" name="Cartão 115"/>
            <p:cNvSpPr/>
            <p:nvPr/>
          </p:nvSpPr>
          <p:spPr>
            <a:xfrm>
              <a:off x="8229600" y="6309360"/>
              <a:ext cx="8412480" cy="1874520"/>
            </a:xfrm>
            <a:prstGeom prst="roundRect">
              <a:avLst>
                <a:gd name="adj" fmla="val 4878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6" name="Texto 116"/>
            <p:cNvSpPr txBox="1"/>
            <p:nvPr/>
          </p:nvSpPr>
          <p:spPr>
            <a:xfrm>
              <a:off x="8503920" y="6309360"/>
              <a:ext cx="1097280" cy="1874520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4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03</a:t>
              </a:r>
            </a:p>
          </p:txBody>
        </p:sp>
        <p:sp>
          <p:nvSpPr>
            <p:cNvPr id="117" name="Texto 117"/>
            <p:cNvSpPr txBox="1"/>
            <p:nvPr/>
          </p:nvSpPr>
          <p:spPr>
            <a:xfrm>
              <a:off x="9646920" y="6309360"/>
              <a:ext cx="6720840" cy="1874520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100" b="1">
                  <a:solidFill>
                    <a:srgbClr val="3E721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Não fermenta a lactose</a:t>
              </a:r>
              <a:r>
                <a:rPr lang="pt-BR" sz="21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 e a maioria das cepas </a:t>
              </a:r>
              <a:r>
                <a:rPr lang="pt-BR" sz="2100" b="1">
                  <a:solidFill>
                    <a:srgbClr val="3E721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produz H₂S</a:t>
              </a:r>
              <a:r>
                <a:rPr lang="pt-BR" sz="21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, pistas usadas para identificá-la em laboratório.</a:t>
              </a: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  <p:bldP spid="106" grpId="0"/>
    </p:bld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86402">
            <a:off x="-522939" y="-367883"/>
            <a:ext cx="3377819" cy="2794377"/>
          </a:xfrm>
          <a:custGeom>
            <a:avLst/>
            <a:gdLst/>
            <a:ahLst/>
            <a:cxnLst/>
            <a:rect r="r" b="b" t="t" l="l"/>
            <a:pathLst>
              <a:path h="2794377" w="3377819">
                <a:moveTo>
                  <a:pt x="0" y="0"/>
                </a:moveTo>
                <a:lnTo>
                  <a:pt x="3377819" y="0"/>
                </a:lnTo>
                <a:lnTo>
                  <a:pt x="3377819" y="2794377"/>
                </a:lnTo>
                <a:lnTo>
                  <a:pt x="0" y="27943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493517">
            <a:off x="15427516" y="7870636"/>
            <a:ext cx="3377819" cy="2794377"/>
          </a:xfrm>
          <a:custGeom>
            <a:avLst/>
            <a:gdLst/>
            <a:ahLst/>
            <a:cxnLst/>
            <a:rect r="r" b="b" t="t" l="l"/>
            <a:pathLst>
              <a:path h="2794377" w="3377819">
                <a:moveTo>
                  <a:pt x="3377818" y="2794378"/>
                </a:moveTo>
                <a:lnTo>
                  <a:pt x="0" y="2794378"/>
                </a:lnTo>
                <a:lnTo>
                  <a:pt x="0" y="0"/>
                </a:lnTo>
                <a:lnTo>
                  <a:pt x="3377818" y="0"/>
                </a:lnTo>
                <a:lnTo>
                  <a:pt x="3377818" y="2794378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11420">
            <a:off x="-1223133" y="7592707"/>
            <a:ext cx="3922436" cy="3922436"/>
          </a:xfrm>
          <a:custGeom>
            <a:avLst/>
            <a:gdLst/>
            <a:ahLst/>
            <a:cxnLst/>
            <a:rect r="r" b="b" t="t" l="l"/>
            <a:pathLst>
              <a:path h="3922436" w="3922436">
                <a:moveTo>
                  <a:pt x="0" y="0"/>
                </a:moveTo>
                <a:lnTo>
                  <a:pt x="3922436" y="0"/>
                </a:lnTo>
                <a:lnTo>
                  <a:pt x="3922436" y="3922436"/>
                </a:lnTo>
                <a:lnTo>
                  <a:pt x="0" y="3922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1317334">
            <a:off x="15593357" y="-1229411"/>
            <a:ext cx="3922436" cy="3922436"/>
          </a:xfrm>
          <a:custGeom>
            <a:avLst/>
            <a:gdLst/>
            <a:ahLst/>
            <a:cxnLst/>
            <a:rect r="r" b="b" t="t" l="l"/>
            <a:pathLst>
              <a:path h="3922436" w="3922436">
                <a:moveTo>
                  <a:pt x="3922436" y="3922436"/>
                </a:moveTo>
                <a:lnTo>
                  <a:pt x="0" y="3922436"/>
                </a:lnTo>
                <a:lnTo>
                  <a:pt x="0" y="0"/>
                </a:lnTo>
                <a:lnTo>
                  <a:pt x="3922436" y="0"/>
                </a:lnTo>
                <a:lnTo>
                  <a:pt x="3922436" y="3922436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302437">
            <a:off x="1854647" y="8837398"/>
            <a:ext cx="2867640" cy="2400454"/>
          </a:xfrm>
          <a:custGeom>
            <a:avLst/>
            <a:gdLst/>
            <a:ahLst/>
            <a:cxnLst/>
            <a:rect r="r" b="b" t="t" l="l"/>
            <a:pathLst>
              <a:path h="2400454" w="2867640">
                <a:moveTo>
                  <a:pt x="2867641" y="2400454"/>
                </a:moveTo>
                <a:lnTo>
                  <a:pt x="0" y="2400454"/>
                </a:lnTo>
                <a:lnTo>
                  <a:pt x="0" y="0"/>
                </a:lnTo>
                <a:lnTo>
                  <a:pt x="2867641" y="0"/>
                </a:lnTo>
                <a:lnTo>
                  <a:pt x="2867641" y="2400454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02437">
            <a:off x="13568501" y="-789560"/>
            <a:ext cx="2867640" cy="2400454"/>
          </a:xfrm>
          <a:custGeom>
            <a:avLst/>
            <a:gdLst/>
            <a:ahLst/>
            <a:cxnLst/>
            <a:rect r="r" b="b" t="t" l="l"/>
            <a:pathLst>
              <a:path h="2400454" w="2867640">
                <a:moveTo>
                  <a:pt x="0" y="0"/>
                </a:moveTo>
                <a:lnTo>
                  <a:pt x="2867640" y="0"/>
                </a:lnTo>
                <a:lnTo>
                  <a:pt x="2867640" y="2400454"/>
                </a:lnTo>
                <a:lnTo>
                  <a:pt x="0" y="24004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2272826" y="-512289"/>
            <a:ext cx="1682856" cy="1845911"/>
          </a:xfrm>
          <a:custGeom>
            <a:avLst/>
            <a:gdLst/>
            <a:ahLst/>
            <a:cxnLst/>
            <a:rect r="r" b="b" t="t" l="l"/>
            <a:pathLst>
              <a:path h="1845911" w="1682856">
                <a:moveTo>
                  <a:pt x="1682856" y="1845912"/>
                </a:moveTo>
                <a:lnTo>
                  <a:pt x="0" y="1845912"/>
                </a:lnTo>
                <a:lnTo>
                  <a:pt x="0" y="0"/>
                </a:lnTo>
                <a:lnTo>
                  <a:pt x="1682856" y="0"/>
                </a:lnTo>
                <a:lnTo>
                  <a:pt x="1682856" y="1845912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326046" y="8951105"/>
            <a:ext cx="1682856" cy="1845911"/>
          </a:xfrm>
          <a:custGeom>
            <a:avLst/>
            <a:gdLst/>
            <a:ahLst/>
            <a:cxnLst/>
            <a:rect r="r" b="b" t="t" l="l"/>
            <a:pathLst>
              <a:path h="1845911" w="1682856">
                <a:moveTo>
                  <a:pt x="0" y="0"/>
                </a:moveTo>
                <a:lnTo>
                  <a:pt x="1682856" y="0"/>
                </a:lnTo>
                <a:lnTo>
                  <a:pt x="1682856" y="1845911"/>
                </a:lnTo>
                <a:lnTo>
                  <a:pt x="0" y="18459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017940">
            <a:off x="16670810" y="5992839"/>
            <a:ext cx="2647083" cy="2021409"/>
          </a:xfrm>
          <a:custGeom>
            <a:avLst/>
            <a:gdLst/>
            <a:ahLst/>
            <a:cxnLst/>
            <a:rect r="r" b="b" t="t" l="l"/>
            <a:pathLst>
              <a:path h="2021409" w="2647083">
                <a:moveTo>
                  <a:pt x="0" y="0"/>
                </a:moveTo>
                <a:lnTo>
                  <a:pt x="2647083" y="0"/>
                </a:lnTo>
                <a:lnTo>
                  <a:pt x="2647083" y="2021408"/>
                </a:lnTo>
                <a:lnTo>
                  <a:pt x="0" y="20214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-2017940">
            <a:off x="-1031598" y="2271015"/>
            <a:ext cx="2647083" cy="2021409"/>
          </a:xfrm>
          <a:custGeom>
            <a:avLst/>
            <a:gdLst/>
            <a:ahLst/>
            <a:cxnLst/>
            <a:rect r="r" b="b" t="t" l="l"/>
            <a:pathLst>
              <a:path h="2021409" w="2647083">
                <a:moveTo>
                  <a:pt x="2647082" y="2021408"/>
                </a:moveTo>
                <a:lnTo>
                  <a:pt x="0" y="2021408"/>
                </a:lnTo>
                <a:lnTo>
                  <a:pt x="0" y="0"/>
                </a:lnTo>
                <a:lnTo>
                  <a:pt x="2647082" y="0"/>
                </a:lnTo>
                <a:lnTo>
                  <a:pt x="2647082" y="2021408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75609" y="519578"/>
            <a:ext cx="17136781" cy="9247843"/>
            <a:chOff x="0" y="0"/>
            <a:chExt cx="4513391" cy="24356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13391" cy="2435646"/>
            </a:xfrm>
            <a:custGeom>
              <a:avLst/>
              <a:gdLst/>
              <a:ahLst/>
              <a:cxnLst/>
              <a:rect r="r" b="b" t="t" l="l"/>
              <a:pathLst>
                <a:path h="2435646" w="4513391">
                  <a:moveTo>
                    <a:pt x="16264" y="0"/>
                  </a:moveTo>
                  <a:lnTo>
                    <a:pt x="4497127" y="0"/>
                  </a:lnTo>
                  <a:cubicBezTo>
                    <a:pt x="4506109" y="0"/>
                    <a:pt x="4513391" y="7282"/>
                    <a:pt x="4513391" y="16264"/>
                  </a:cubicBezTo>
                  <a:lnTo>
                    <a:pt x="4513391" y="2419382"/>
                  </a:lnTo>
                  <a:cubicBezTo>
                    <a:pt x="4513391" y="2428364"/>
                    <a:pt x="4506109" y="2435646"/>
                    <a:pt x="4497127" y="2435646"/>
                  </a:cubicBezTo>
                  <a:lnTo>
                    <a:pt x="16264" y="2435646"/>
                  </a:lnTo>
                  <a:cubicBezTo>
                    <a:pt x="7282" y="2435646"/>
                    <a:pt x="0" y="2428364"/>
                    <a:pt x="0" y="2419382"/>
                  </a:cubicBezTo>
                  <a:lnTo>
                    <a:pt x="0" y="16264"/>
                  </a:lnTo>
                  <a:cubicBezTo>
                    <a:pt x="0" y="7282"/>
                    <a:pt x="7282" y="0"/>
                    <a:pt x="16264" y="0"/>
                  </a:cubicBezTo>
                  <a:close/>
                </a:path>
              </a:pathLst>
            </a:custGeom>
            <a:solidFill>
              <a:srgbClr val="EAEAEA">
                <a:alpha val="84706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513391" cy="2483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id="101" name="Cabeçalho 101"/>
          <p:cNvSpPr txBox="1"/>
          <p:nvPr/>
        </p:nvSpPr>
        <p:spPr>
          <a:xfrm>
            <a:off x="1024128" y="932688"/>
            <a:ext cx="1353312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 xml:space="preserve">Apresentado por  </a:t>
            </a:r>
            <a:r>
              <a:rPr lang="pt-BR" sz="1900" b="1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Matheus Rosa, Gabriely Paixão, Yvana Lopes, Milena Vitória e Myriam Caires</a:t>
            </a:r>
          </a:p>
        </p:txBody>
      </p:sp>
      <p:sp>
        <p:nvSpPr>
          <p:cNvPr id="102" name="Ano 102"/>
          <p:cNvSpPr txBox="1"/>
          <p:nvPr/>
        </p:nvSpPr>
        <p:spPr>
          <a:xfrm>
            <a:off x="15453360" y="932688"/>
            <a:ext cx="181051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spc="400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2026</a:t>
            </a:r>
          </a:p>
        </p:txBody>
      </p:sp>
      <p:sp>
        <p:nvSpPr>
          <p:cNvPr id="103" name="Rodapé 103"/>
          <p:cNvSpPr txBox="1"/>
          <p:nvPr/>
        </p:nvSpPr>
        <p:spPr>
          <a:xfrm>
            <a:off x="1024128" y="8887968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>Microbiologia  |  Salmonella</a:t>
            </a:r>
          </a:p>
        </p:txBody>
      </p:sp>
      <p:sp>
        <p:nvSpPr>
          <p:cNvPr id="104" name="Página 104"/>
          <p:cNvSpPr txBox="1"/>
          <p:nvPr/>
        </p:nvSpPr>
        <p:spPr>
          <a:xfrm>
            <a:off x="13624560" y="8887968"/>
            <a:ext cx="363931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 spc="400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PÁGINA 07</a:t>
            </a:r>
          </a:p>
        </p:txBody>
      </p:sp>
      <p:sp>
        <p:nvSpPr>
          <p:cNvPr id="105" name="Título 105"/>
          <p:cNvSpPr txBox="1"/>
          <p:nvPr/>
        </p:nvSpPr>
        <p:spPr>
          <a:xfrm>
            <a:off x="1828800" y="1691640"/>
            <a:ext cx="14630400" cy="12801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0">
                <a:solidFill>
                  <a:srgbClr val="3E721D"/>
                </a:solidFill>
                <a:latin typeface="Lilita One"/>
                <a:ea typeface="Lilita One"/>
                <a:cs typeface="Lilita One"/>
                <a:sym typeface="Lilita One"/>
              </a:rPr>
              <a:t>COMO OCORRE A TRANSMISSÃO</a:t>
            </a:r>
          </a:p>
        </p:txBody>
      </p:sp>
      <p:grpSp>
        <p:nvGrpSpPr>
          <p:cNvPr id="109" name="Cartão 109"/>
          <p:cNvGrpSpPr/>
          <p:nvPr/>
        </p:nvGrpSpPr>
        <p:grpSpPr>
          <a:xfrm>
            <a:off x="1920240" y="3383280"/>
            <a:ext cx="4526280" cy="4754880"/>
            <a:chOff x="1920240" y="3383280"/>
            <a:chExt cx="4526280" cy="4754880"/>
          </a:xfrm>
        </p:grpSpPr>
        <p:sp>
          <p:nvSpPr>
            <p:cNvPr id="106" name="Cartão 106"/>
            <p:cNvSpPr/>
            <p:nvPr/>
          </p:nvSpPr>
          <p:spPr>
            <a:xfrm>
              <a:off x="1920240" y="3383280"/>
              <a:ext cx="4526280" cy="4754880"/>
            </a:xfrm>
            <a:prstGeom prst="roundRect">
              <a:avLst>
                <a:gd name="adj" fmla="val 2020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7" name="Texto 107"/>
            <p:cNvSpPr txBox="1"/>
            <p:nvPr/>
          </p:nvSpPr>
          <p:spPr>
            <a:xfrm>
              <a:off x="2240280" y="3657600"/>
              <a:ext cx="1463040" cy="82296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54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01</a:t>
              </a:r>
            </a:p>
          </p:txBody>
        </p:sp>
        <p:sp>
          <p:nvSpPr>
            <p:cNvPr id="108" name="Texto 108"/>
            <p:cNvSpPr txBox="1"/>
            <p:nvPr/>
          </p:nvSpPr>
          <p:spPr>
            <a:xfrm>
              <a:off x="2240280" y="4572000"/>
              <a:ext cx="3886200" cy="342900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pt-BR" sz="28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Alimentos crus ou malcozidos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2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Ovos, carnes de frango, porco e boi, leite não pasteurizado e seus derivados são as principais fontes.</a:t>
              </a:r>
            </a:p>
          </p:txBody>
        </p:sp>
      </p:grpSp>
      <p:grpSp>
        <p:nvGrpSpPr>
          <p:cNvPr id="113" name="Cartão 113"/>
          <p:cNvGrpSpPr/>
          <p:nvPr/>
        </p:nvGrpSpPr>
        <p:grpSpPr>
          <a:xfrm>
            <a:off x="6858000" y="3383280"/>
            <a:ext cx="4526280" cy="4754880"/>
            <a:chOff x="6858000" y="3383280"/>
            <a:chExt cx="4526280" cy="4754880"/>
          </a:xfrm>
        </p:grpSpPr>
        <p:sp>
          <p:nvSpPr>
            <p:cNvPr id="110" name="Cartão 110"/>
            <p:cNvSpPr/>
            <p:nvPr/>
          </p:nvSpPr>
          <p:spPr>
            <a:xfrm>
              <a:off x="6858000" y="3383280"/>
              <a:ext cx="4526280" cy="4754880"/>
            </a:xfrm>
            <a:prstGeom prst="roundRect">
              <a:avLst>
                <a:gd name="adj" fmla="val 2020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1" name="Texto 111"/>
            <p:cNvSpPr txBox="1"/>
            <p:nvPr/>
          </p:nvSpPr>
          <p:spPr>
            <a:xfrm>
              <a:off x="7178040" y="3657600"/>
              <a:ext cx="1463040" cy="82296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54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02</a:t>
              </a:r>
            </a:p>
          </p:txBody>
        </p:sp>
        <p:sp>
          <p:nvSpPr>
            <p:cNvPr id="112" name="Texto 112"/>
            <p:cNvSpPr txBox="1"/>
            <p:nvPr/>
          </p:nvSpPr>
          <p:spPr>
            <a:xfrm>
              <a:off x="7178040" y="4572000"/>
              <a:ext cx="3886200" cy="342900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pt-BR" sz="28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Via fecal-oral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2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Água e alimentos contaminados por fezes, falta de saneamento e contaminação cruzada na cozinha (tábuas, facas e mãos).</a:t>
              </a:r>
            </a:p>
          </p:txBody>
        </p:sp>
      </p:grpSp>
      <p:grpSp>
        <p:nvGrpSpPr>
          <p:cNvPr id="117" name="Cartão 117"/>
          <p:cNvGrpSpPr/>
          <p:nvPr/>
        </p:nvGrpSpPr>
        <p:grpSpPr>
          <a:xfrm>
            <a:off x="11795760" y="3383280"/>
            <a:ext cx="4526280" cy="4754880"/>
            <a:chOff x="11795760" y="3383280"/>
            <a:chExt cx="4526280" cy="4754880"/>
          </a:xfrm>
        </p:grpSpPr>
        <p:sp>
          <p:nvSpPr>
            <p:cNvPr id="114" name="Cartão 114"/>
            <p:cNvSpPr/>
            <p:nvPr/>
          </p:nvSpPr>
          <p:spPr>
            <a:xfrm>
              <a:off x="11795760" y="3383280"/>
              <a:ext cx="4526280" cy="4754880"/>
            </a:xfrm>
            <a:prstGeom prst="roundRect">
              <a:avLst>
                <a:gd name="adj" fmla="val 2020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5" name="Texto 115"/>
            <p:cNvSpPr txBox="1"/>
            <p:nvPr/>
          </p:nvSpPr>
          <p:spPr>
            <a:xfrm>
              <a:off x="12115800" y="3657600"/>
              <a:ext cx="1463040" cy="82296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54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03</a:t>
              </a:r>
            </a:p>
          </p:txBody>
        </p:sp>
        <p:sp>
          <p:nvSpPr>
            <p:cNvPr id="116" name="Texto 116"/>
            <p:cNvSpPr txBox="1"/>
            <p:nvPr/>
          </p:nvSpPr>
          <p:spPr>
            <a:xfrm>
              <a:off x="12115800" y="4572000"/>
              <a:ext cx="3886200" cy="342900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pt-BR" sz="28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Animais e pessoas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2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Aves, répteis (tartarugas, iguanas), animais de estimação e portadores sem sintomas podem transmitir a bactéria.</a:t>
              </a: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</p:bld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86402">
            <a:off x="-522939" y="-367883"/>
            <a:ext cx="3377819" cy="2794377"/>
          </a:xfrm>
          <a:custGeom>
            <a:avLst/>
            <a:gdLst/>
            <a:ahLst/>
            <a:cxnLst/>
            <a:rect r="r" b="b" t="t" l="l"/>
            <a:pathLst>
              <a:path h="2794377" w="3377819">
                <a:moveTo>
                  <a:pt x="0" y="0"/>
                </a:moveTo>
                <a:lnTo>
                  <a:pt x="3377819" y="0"/>
                </a:lnTo>
                <a:lnTo>
                  <a:pt x="3377819" y="2794377"/>
                </a:lnTo>
                <a:lnTo>
                  <a:pt x="0" y="27943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493517">
            <a:off x="15427516" y="7870636"/>
            <a:ext cx="3377819" cy="2794377"/>
          </a:xfrm>
          <a:custGeom>
            <a:avLst/>
            <a:gdLst/>
            <a:ahLst/>
            <a:cxnLst/>
            <a:rect r="r" b="b" t="t" l="l"/>
            <a:pathLst>
              <a:path h="2794377" w="3377819">
                <a:moveTo>
                  <a:pt x="3377818" y="2794378"/>
                </a:moveTo>
                <a:lnTo>
                  <a:pt x="0" y="2794378"/>
                </a:lnTo>
                <a:lnTo>
                  <a:pt x="0" y="0"/>
                </a:lnTo>
                <a:lnTo>
                  <a:pt x="3377818" y="0"/>
                </a:lnTo>
                <a:lnTo>
                  <a:pt x="3377818" y="2794378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11420">
            <a:off x="-1223133" y="7592707"/>
            <a:ext cx="3922436" cy="3922436"/>
          </a:xfrm>
          <a:custGeom>
            <a:avLst/>
            <a:gdLst/>
            <a:ahLst/>
            <a:cxnLst/>
            <a:rect r="r" b="b" t="t" l="l"/>
            <a:pathLst>
              <a:path h="3922436" w="3922436">
                <a:moveTo>
                  <a:pt x="0" y="0"/>
                </a:moveTo>
                <a:lnTo>
                  <a:pt x="3922436" y="0"/>
                </a:lnTo>
                <a:lnTo>
                  <a:pt x="3922436" y="3922436"/>
                </a:lnTo>
                <a:lnTo>
                  <a:pt x="0" y="3922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1317334">
            <a:off x="15593357" y="-1229411"/>
            <a:ext cx="3922436" cy="3922436"/>
          </a:xfrm>
          <a:custGeom>
            <a:avLst/>
            <a:gdLst/>
            <a:ahLst/>
            <a:cxnLst/>
            <a:rect r="r" b="b" t="t" l="l"/>
            <a:pathLst>
              <a:path h="3922436" w="3922436">
                <a:moveTo>
                  <a:pt x="3922436" y="3922436"/>
                </a:moveTo>
                <a:lnTo>
                  <a:pt x="0" y="3922436"/>
                </a:lnTo>
                <a:lnTo>
                  <a:pt x="0" y="0"/>
                </a:lnTo>
                <a:lnTo>
                  <a:pt x="3922436" y="0"/>
                </a:lnTo>
                <a:lnTo>
                  <a:pt x="3922436" y="3922436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302437">
            <a:off x="1854647" y="8837398"/>
            <a:ext cx="2867640" cy="2400454"/>
          </a:xfrm>
          <a:custGeom>
            <a:avLst/>
            <a:gdLst/>
            <a:ahLst/>
            <a:cxnLst/>
            <a:rect r="r" b="b" t="t" l="l"/>
            <a:pathLst>
              <a:path h="2400454" w="2867640">
                <a:moveTo>
                  <a:pt x="2867641" y="2400454"/>
                </a:moveTo>
                <a:lnTo>
                  <a:pt x="0" y="2400454"/>
                </a:lnTo>
                <a:lnTo>
                  <a:pt x="0" y="0"/>
                </a:lnTo>
                <a:lnTo>
                  <a:pt x="2867641" y="0"/>
                </a:lnTo>
                <a:lnTo>
                  <a:pt x="2867641" y="2400454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02437">
            <a:off x="13568501" y="-789560"/>
            <a:ext cx="2867640" cy="2400454"/>
          </a:xfrm>
          <a:custGeom>
            <a:avLst/>
            <a:gdLst/>
            <a:ahLst/>
            <a:cxnLst/>
            <a:rect r="r" b="b" t="t" l="l"/>
            <a:pathLst>
              <a:path h="2400454" w="2867640">
                <a:moveTo>
                  <a:pt x="0" y="0"/>
                </a:moveTo>
                <a:lnTo>
                  <a:pt x="2867640" y="0"/>
                </a:lnTo>
                <a:lnTo>
                  <a:pt x="2867640" y="2400454"/>
                </a:lnTo>
                <a:lnTo>
                  <a:pt x="0" y="24004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2272826" y="-512289"/>
            <a:ext cx="1682856" cy="1845911"/>
          </a:xfrm>
          <a:custGeom>
            <a:avLst/>
            <a:gdLst/>
            <a:ahLst/>
            <a:cxnLst/>
            <a:rect r="r" b="b" t="t" l="l"/>
            <a:pathLst>
              <a:path h="1845911" w="1682856">
                <a:moveTo>
                  <a:pt x="1682856" y="1845912"/>
                </a:moveTo>
                <a:lnTo>
                  <a:pt x="0" y="1845912"/>
                </a:lnTo>
                <a:lnTo>
                  <a:pt x="0" y="0"/>
                </a:lnTo>
                <a:lnTo>
                  <a:pt x="1682856" y="0"/>
                </a:lnTo>
                <a:lnTo>
                  <a:pt x="1682856" y="1845912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326046" y="8951105"/>
            <a:ext cx="1682856" cy="1845911"/>
          </a:xfrm>
          <a:custGeom>
            <a:avLst/>
            <a:gdLst/>
            <a:ahLst/>
            <a:cxnLst/>
            <a:rect r="r" b="b" t="t" l="l"/>
            <a:pathLst>
              <a:path h="1845911" w="1682856">
                <a:moveTo>
                  <a:pt x="0" y="0"/>
                </a:moveTo>
                <a:lnTo>
                  <a:pt x="1682856" y="0"/>
                </a:lnTo>
                <a:lnTo>
                  <a:pt x="1682856" y="1845911"/>
                </a:lnTo>
                <a:lnTo>
                  <a:pt x="0" y="18459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017940">
            <a:off x="16670810" y="5992839"/>
            <a:ext cx="2647083" cy="2021409"/>
          </a:xfrm>
          <a:custGeom>
            <a:avLst/>
            <a:gdLst/>
            <a:ahLst/>
            <a:cxnLst/>
            <a:rect r="r" b="b" t="t" l="l"/>
            <a:pathLst>
              <a:path h="2021409" w="2647083">
                <a:moveTo>
                  <a:pt x="0" y="0"/>
                </a:moveTo>
                <a:lnTo>
                  <a:pt x="2647083" y="0"/>
                </a:lnTo>
                <a:lnTo>
                  <a:pt x="2647083" y="2021408"/>
                </a:lnTo>
                <a:lnTo>
                  <a:pt x="0" y="20214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-2017940">
            <a:off x="-1031598" y="2271015"/>
            <a:ext cx="2647083" cy="2021409"/>
          </a:xfrm>
          <a:custGeom>
            <a:avLst/>
            <a:gdLst/>
            <a:ahLst/>
            <a:cxnLst/>
            <a:rect r="r" b="b" t="t" l="l"/>
            <a:pathLst>
              <a:path h="2021409" w="2647083">
                <a:moveTo>
                  <a:pt x="2647082" y="2021408"/>
                </a:moveTo>
                <a:lnTo>
                  <a:pt x="0" y="2021408"/>
                </a:lnTo>
                <a:lnTo>
                  <a:pt x="0" y="0"/>
                </a:lnTo>
                <a:lnTo>
                  <a:pt x="2647082" y="0"/>
                </a:lnTo>
                <a:lnTo>
                  <a:pt x="2647082" y="2021408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75609" y="519578"/>
            <a:ext cx="17136781" cy="9247843"/>
            <a:chOff x="0" y="0"/>
            <a:chExt cx="4513391" cy="24356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13391" cy="2435646"/>
            </a:xfrm>
            <a:custGeom>
              <a:avLst/>
              <a:gdLst/>
              <a:ahLst/>
              <a:cxnLst/>
              <a:rect r="r" b="b" t="t" l="l"/>
              <a:pathLst>
                <a:path h="2435646" w="4513391">
                  <a:moveTo>
                    <a:pt x="16264" y="0"/>
                  </a:moveTo>
                  <a:lnTo>
                    <a:pt x="4497127" y="0"/>
                  </a:lnTo>
                  <a:cubicBezTo>
                    <a:pt x="4506109" y="0"/>
                    <a:pt x="4513391" y="7282"/>
                    <a:pt x="4513391" y="16264"/>
                  </a:cubicBezTo>
                  <a:lnTo>
                    <a:pt x="4513391" y="2419382"/>
                  </a:lnTo>
                  <a:cubicBezTo>
                    <a:pt x="4513391" y="2428364"/>
                    <a:pt x="4506109" y="2435646"/>
                    <a:pt x="4497127" y="2435646"/>
                  </a:cubicBezTo>
                  <a:lnTo>
                    <a:pt x="16264" y="2435646"/>
                  </a:lnTo>
                  <a:cubicBezTo>
                    <a:pt x="7282" y="2435646"/>
                    <a:pt x="0" y="2428364"/>
                    <a:pt x="0" y="2419382"/>
                  </a:cubicBezTo>
                  <a:lnTo>
                    <a:pt x="0" y="16264"/>
                  </a:lnTo>
                  <a:cubicBezTo>
                    <a:pt x="0" y="7282"/>
                    <a:pt x="7282" y="0"/>
                    <a:pt x="16264" y="0"/>
                  </a:cubicBezTo>
                  <a:close/>
                </a:path>
              </a:pathLst>
            </a:custGeom>
            <a:solidFill>
              <a:srgbClr val="EAEAEA">
                <a:alpha val="84706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513391" cy="2483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id="101" name="Cabeçalho 101"/>
          <p:cNvSpPr txBox="1"/>
          <p:nvPr/>
        </p:nvSpPr>
        <p:spPr>
          <a:xfrm>
            <a:off x="1024128" y="932688"/>
            <a:ext cx="1353312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 xml:space="preserve">Apresentado por  </a:t>
            </a:r>
            <a:r>
              <a:rPr lang="pt-BR" sz="1900" b="1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Matheus Rosa, Gabriely Paixão, Yvana Lopes, Milena Vitória e Myriam Caires</a:t>
            </a:r>
          </a:p>
        </p:txBody>
      </p:sp>
      <p:sp>
        <p:nvSpPr>
          <p:cNvPr id="102" name="Ano 102"/>
          <p:cNvSpPr txBox="1"/>
          <p:nvPr/>
        </p:nvSpPr>
        <p:spPr>
          <a:xfrm>
            <a:off x="15453360" y="932688"/>
            <a:ext cx="181051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spc="400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2026</a:t>
            </a:r>
          </a:p>
        </p:txBody>
      </p:sp>
      <p:sp>
        <p:nvSpPr>
          <p:cNvPr id="103" name="Rodapé 103"/>
          <p:cNvSpPr txBox="1"/>
          <p:nvPr/>
        </p:nvSpPr>
        <p:spPr>
          <a:xfrm>
            <a:off x="1024128" y="8887968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>Microbiologia  |  Salmonella</a:t>
            </a:r>
          </a:p>
        </p:txBody>
      </p:sp>
      <p:sp>
        <p:nvSpPr>
          <p:cNvPr id="104" name="Página 104"/>
          <p:cNvSpPr txBox="1"/>
          <p:nvPr/>
        </p:nvSpPr>
        <p:spPr>
          <a:xfrm>
            <a:off x="13624560" y="8887968"/>
            <a:ext cx="363931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 spc="400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PÁGINA 08</a:t>
            </a:r>
          </a:p>
        </p:txBody>
      </p:sp>
      <p:sp>
        <p:nvSpPr>
          <p:cNvPr id="105" name="Título 105"/>
          <p:cNvSpPr txBox="1"/>
          <p:nvPr/>
        </p:nvSpPr>
        <p:spPr>
          <a:xfrm>
            <a:off x="1828800" y="1691640"/>
            <a:ext cx="14630400" cy="12801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800">
                <a:solidFill>
                  <a:srgbClr val="3E721D"/>
                </a:solidFill>
                <a:latin typeface="Lilita One"/>
                <a:ea typeface="Lilita One"/>
                <a:cs typeface="Lilita One"/>
                <a:sym typeface="Lilita One"/>
              </a:rPr>
              <a:t>PRINCIPAIS DOENÇAS</a:t>
            </a:r>
          </a:p>
        </p:txBody>
      </p:sp>
      <p:grpSp>
        <p:nvGrpSpPr>
          <p:cNvPr id="108" name="Cartão 108"/>
          <p:cNvGrpSpPr/>
          <p:nvPr/>
        </p:nvGrpSpPr>
        <p:grpSpPr>
          <a:xfrm>
            <a:off x="1851660" y="3154680"/>
            <a:ext cx="7132320" cy="2606040"/>
            <a:chOff x="1851660" y="3154680"/>
            <a:chExt cx="7132320" cy="2606040"/>
          </a:xfrm>
        </p:grpSpPr>
        <p:sp>
          <p:nvSpPr>
            <p:cNvPr id="106" name="Cartão 106"/>
            <p:cNvSpPr/>
            <p:nvPr/>
          </p:nvSpPr>
          <p:spPr>
            <a:xfrm>
              <a:off x="1851660" y="3154680"/>
              <a:ext cx="7132320" cy="2606040"/>
            </a:xfrm>
            <a:prstGeom prst="roundRect">
              <a:avLst>
                <a:gd name="adj" fmla="val 3508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7" name="Texto 107"/>
            <p:cNvSpPr txBox="1"/>
            <p:nvPr/>
          </p:nvSpPr>
          <p:spPr>
            <a:xfrm>
              <a:off x="2171700" y="3383280"/>
              <a:ext cx="6492240" cy="22402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pt-BR" sz="30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Salmonelose (gastroenterite)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Causada por sorotipos não tifoides, como Enteritidis e Typhimurium. Surge 6 a 72 h após a ingestão, com diarreia, febre, cólicas e vômitos; dura de 2 a 7 dias.</a:t>
              </a:r>
            </a:p>
          </p:txBody>
        </p:sp>
      </p:grpSp>
      <p:grpSp>
        <p:nvGrpSpPr>
          <p:cNvPr id="111" name="Cartão 111"/>
          <p:cNvGrpSpPr/>
          <p:nvPr/>
        </p:nvGrpSpPr>
        <p:grpSpPr>
          <a:xfrm>
            <a:off x="9304020" y="3154680"/>
            <a:ext cx="7132320" cy="2606040"/>
            <a:chOff x="9304020" y="3154680"/>
            <a:chExt cx="7132320" cy="2606040"/>
          </a:xfrm>
        </p:grpSpPr>
        <p:sp>
          <p:nvSpPr>
            <p:cNvPr id="109" name="Cartão 109"/>
            <p:cNvSpPr/>
            <p:nvPr/>
          </p:nvSpPr>
          <p:spPr>
            <a:xfrm>
              <a:off x="9304020" y="3154680"/>
              <a:ext cx="7132320" cy="2606040"/>
            </a:xfrm>
            <a:prstGeom prst="roundRect">
              <a:avLst>
                <a:gd name="adj" fmla="val 3508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0" name="Texto 110"/>
            <p:cNvSpPr txBox="1"/>
            <p:nvPr/>
          </p:nvSpPr>
          <p:spPr>
            <a:xfrm>
              <a:off x="9624060" y="3383280"/>
              <a:ext cx="6492240" cy="22402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pt-BR" sz="30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Febre tifoide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Causada por </a:t>
              </a:r>
              <a:r>
                <a:rPr lang="pt-BR" sz="2000" i="1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S.</a:t>
              </a:r>
              <a:r>
                <a:rPr lang="pt-BR" sz="20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 Typhi, que só infecta humanos. Provoca febre alta e prolongada, dor abdominal, fraqueza e manchas rosadas na pele.</a:t>
              </a:r>
            </a:p>
          </p:txBody>
        </p:sp>
      </p:grpSp>
      <p:grpSp>
        <p:nvGrpSpPr>
          <p:cNvPr id="114" name="Cartão 114"/>
          <p:cNvGrpSpPr/>
          <p:nvPr/>
        </p:nvGrpSpPr>
        <p:grpSpPr>
          <a:xfrm>
            <a:off x="1851660" y="6035040"/>
            <a:ext cx="7132320" cy="2606040"/>
            <a:chOff x="1851660" y="6035040"/>
            <a:chExt cx="7132320" cy="2606040"/>
          </a:xfrm>
        </p:grpSpPr>
        <p:sp>
          <p:nvSpPr>
            <p:cNvPr id="112" name="Cartão 112"/>
            <p:cNvSpPr/>
            <p:nvPr/>
          </p:nvSpPr>
          <p:spPr>
            <a:xfrm>
              <a:off x="1851660" y="6035040"/>
              <a:ext cx="7132320" cy="2606040"/>
            </a:xfrm>
            <a:prstGeom prst="roundRect">
              <a:avLst>
                <a:gd name="adj" fmla="val 3508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3" name="Texto 113"/>
            <p:cNvSpPr txBox="1"/>
            <p:nvPr/>
          </p:nvSpPr>
          <p:spPr>
            <a:xfrm>
              <a:off x="2171700" y="6263640"/>
              <a:ext cx="6492240" cy="22402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pt-BR" sz="30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Febre paratifoide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Causada por </a:t>
              </a:r>
              <a:r>
                <a:rPr lang="pt-BR" sz="2000" i="1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S.</a:t>
              </a:r>
              <a:r>
                <a:rPr lang="pt-BR" sz="20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 Paratyphi A, B e C. Os sintomas são parecidos com os da febre tifoide, mas o quadro costuma ser mais brando.</a:t>
              </a:r>
            </a:p>
          </p:txBody>
        </p:sp>
      </p:grpSp>
      <p:grpSp>
        <p:nvGrpSpPr>
          <p:cNvPr id="117" name="Cartão 117"/>
          <p:cNvGrpSpPr/>
          <p:nvPr/>
        </p:nvGrpSpPr>
        <p:grpSpPr>
          <a:xfrm>
            <a:off x="9304020" y="6035040"/>
            <a:ext cx="7132320" cy="2606040"/>
            <a:chOff x="9304020" y="6035040"/>
            <a:chExt cx="7132320" cy="2606040"/>
          </a:xfrm>
        </p:grpSpPr>
        <p:sp>
          <p:nvSpPr>
            <p:cNvPr id="115" name="Cartão 115"/>
            <p:cNvSpPr/>
            <p:nvPr/>
          </p:nvSpPr>
          <p:spPr>
            <a:xfrm>
              <a:off x="9304020" y="6035040"/>
              <a:ext cx="7132320" cy="2606040"/>
            </a:xfrm>
            <a:prstGeom prst="roundRect">
              <a:avLst>
                <a:gd name="adj" fmla="val 3508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6" name="Texto 116"/>
            <p:cNvSpPr txBox="1"/>
            <p:nvPr/>
          </p:nvSpPr>
          <p:spPr>
            <a:xfrm>
              <a:off x="9624060" y="6263640"/>
              <a:ext cx="6492240" cy="22402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pt-BR" sz="30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Infecções invasivas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Quando a bactéria chega ao sangue (bacteremia), pode atingir ossos, articulações e meninges. Crianças, idosos e imunossuprimidos correm mais risco.</a:t>
              </a: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</p:bld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86402">
            <a:off x="-522939" y="-367883"/>
            <a:ext cx="3377819" cy="2794377"/>
          </a:xfrm>
          <a:custGeom>
            <a:avLst/>
            <a:gdLst/>
            <a:ahLst/>
            <a:cxnLst/>
            <a:rect r="r" b="b" t="t" l="l"/>
            <a:pathLst>
              <a:path h="2794377" w="3377819">
                <a:moveTo>
                  <a:pt x="0" y="0"/>
                </a:moveTo>
                <a:lnTo>
                  <a:pt x="3377819" y="0"/>
                </a:lnTo>
                <a:lnTo>
                  <a:pt x="3377819" y="2794377"/>
                </a:lnTo>
                <a:lnTo>
                  <a:pt x="0" y="27943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493517">
            <a:off x="15427516" y="7870636"/>
            <a:ext cx="3377819" cy="2794377"/>
          </a:xfrm>
          <a:custGeom>
            <a:avLst/>
            <a:gdLst/>
            <a:ahLst/>
            <a:cxnLst/>
            <a:rect r="r" b="b" t="t" l="l"/>
            <a:pathLst>
              <a:path h="2794377" w="3377819">
                <a:moveTo>
                  <a:pt x="3377818" y="2794378"/>
                </a:moveTo>
                <a:lnTo>
                  <a:pt x="0" y="2794378"/>
                </a:lnTo>
                <a:lnTo>
                  <a:pt x="0" y="0"/>
                </a:lnTo>
                <a:lnTo>
                  <a:pt x="3377818" y="0"/>
                </a:lnTo>
                <a:lnTo>
                  <a:pt x="3377818" y="2794378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11420">
            <a:off x="-1223133" y="7592707"/>
            <a:ext cx="3922436" cy="3922436"/>
          </a:xfrm>
          <a:custGeom>
            <a:avLst/>
            <a:gdLst/>
            <a:ahLst/>
            <a:cxnLst/>
            <a:rect r="r" b="b" t="t" l="l"/>
            <a:pathLst>
              <a:path h="3922436" w="3922436">
                <a:moveTo>
                  <a:pt x="0" y="0"/>
                </a:moveTo>
                <a:lnTo>
                  <a:pt x="3922436" y="0"/>
                </a:lnTo>
                <a:lnTo>
                  <a:pt x="3922436" y="3922436"/>
                </a:lnTo>
                <a:lnTo>
                  <a:pt x="0" y="3922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1317334">
            <a:off x="15593357" y="-1229411"/>
            <a:ext cx="3922436" cy="3922436"/>
          </a:xfrm>
          <a:custGeom>
            <a:avLst/>
            <a:gdLst/>
            <a:ahLst/>
            <a:cxnLst/>
            <a:rect r="r" b="b" t="t" l="l"/>
            <a:pathLst>
              <a:path h="3922436" w="3922436">
                <a:moveTo>
                  <a:pt x="3922436" y="3922436"/>
                </a:moveTo>
                <a:lnTo>
                  <a:pt x="0" y="3922436"/>
                </a:lnTo>
                <a:lnTo>
                  <a:pt x="0" y="0"/>
                </a:lnTo>
                <a:lnTo>
                  <a:pt x="3922436" y="0"/>
                </a:lnTo>
                <a:lnTo>
                  <a:pt x="3922436" y="3922436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302437">
            <a:off x="1854647" y="8837398"/>
            <a:ext cx="2867640" cy="2400454"/>
          </a:xfrm>
          <a:custGeom>
            <a:avLst/>
            <a:gdLst/>
            <a:ahLst/>
            <a:cxnLst/>
            <a:rect r="r" b="b" t="t" l="l"/>
            <a:pathLst>
              <a:path h="2400454" w="2867640">
                <a:moveTo>
                  <a:pt x="2867641" y="2400454"/>
                </a:moveTo>
                <a:lnTo>
                  <a:pt x="0" y="2400454"/>
                </a:lnTo>
                <a:lnTo>
                  <a:pt x="0" y="0"/>
                </a:lnTo>
                <a:lnTo>
                  <a:pt x="2867641" y="0"/>
                </a:lnTo>
                <a:lnTo>
                  <a:pt x="2867641" y="2400454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02437">
            <a:off x="13568501" y="-789560"/>
            <a:ext cx="2867640" cy="2400454"/>
          </a:xfrm>
          <a:custGeom>
            <a:avLst/>
            <a:gdLst/>
            <a:ahLst/>
            <a:cxnLst/>
            <a:rect r="r" b="b" t="t" l="l"/>
            <a:pathLst>
              <a:path h="2400454" w="2867640">
                <a:moveTo>
                  <a:pt x="0" y="0"/>
                </a:moveTo>
                <a:lnTo>
                  <a:pt x="2867640" y="0"/>
                </a:lnTo>
                <a:lnTo>
                  <a:pt x="2867640" y="2400454"/>
                </a:lnTo>
                <a:lnTo>
                  <a:pt x="0" y="24004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2272826" y="-512289"/>
            <a:ext cx="1682856" cy="1845911"/>
          </a:xfrm>
          <a:custGeom>
            <a:avLst/>
            <a:gdLst/>
            <a:ahLst/>
            <a:cxnLst/>
            <a:rect r="r" b="b" t="t" l="l"/>
            <a:pathLst>
              <a:path h="1845911" w="1682856">
                <a:moveTo>
                  <a:pt x="1682856" y="1845912"/>
                </a:moveTo>
                <a:lnTo>
                  <a:pt x="0" y="1845912"/>
                </a:lnTo>
                <a:lnTo>
                  <a:pt x="0" y="0"/>
                </a:lnTo>
                <a:lnTo>
                  <a:pt x="1682856" y="0"/>
                </a:lnTo>
                <a:lnTo>
                  <a:pt x="1682856" y="1845912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326046" y="8951105"/>
            <a:ext cx="1682856" cy="1845911"/>
          </a:xfrm>
          <a:custGeom>
            <a:avLst/>
            <a:gdLst/>
            <a:ahLst/>
            <a:cxnLst/>
            <a:rect r="r" b="b" t="t" l="l"/>
            <a:pathLst>
              <a:path h="1845911" w="1682856">
                <a:moveTo>
                  <a:pt x="0" y="0"/>
                </a:moveTo>
                <a:lnTo>
                  <a:pt x="1682856" y="0"/>
                </a:lnTo>
                <a:lnTo>
                  <a:pt x="1682856" y="1845911"/>
                </a:lnTo>
                <a:lnTo>
                  <a:pt x="0" y="18459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017940">
            <a:off x="16670810" y="5992839"/>
            <a:ext cx="2647083" cy="2021409"/>
          </a:xfrm>
          <a:custGeom>
            <a:avLst/>
            <a:gdLst/>
            <a:ahLst/>
            <a:cxnLst/>
            <a:rect r="r" b="b" t="t" l="l"/>
            <a:pathLst>
              <a:path h="2021409" w="2647083">
                <a:moveTo>
                  <a:pt x="0" y="0"/>
                </a:moveTo>
                <a:lnTo>
                  <a:pt x="2647083" y="0"/>
                </a:lnTo>
                <a:lnTo>
                  <a:pt x="2647083" y="2021408"/>
                </a:lnTo>
                <a:lnTo>
                  <a:pt x="0" y="20214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-2017940">
            <a:off x="-1031598" y="2271015"/>
            <a:ext cx="2647083" cy="2021409"/>
          </a:xfrm>
          <a:custGeom>
            <a:avLst/>
            <a:gdLst/>
            <a:ahLst/>
            <a:cxnLst/>
            <a:rect r="r" b="b" t="t" l="l"/>
            <a:pathLst>
              <a:path h="2021409" w="2647083">
                <a:moveTo>
                  <a:pt x="2647082" y="2021408"/>
                </a:moveTo>
                <a:lnTo>
                  <a:pt x="0" y="2021408"/>
                </a:lnTo>
                <a:lnTo>
                  <a:pt x="0" y="0"/>
                </a:lnTo>
                <a:lnTo>
                  <a:pt x="2647082" y="0"/>
                </a:lnTo>
                <a:lnTo>
                  <a:pt x="2647082" y="2021408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75609" y="519578"/>
            <a:ext cx="17136781" cy="9247843"/>
            <a:chOff x="0" y="0"/>
            <a:chExt cx="4513391" cy="24356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13391" cy="2435646"/>
            </a:xfrm>
            <a:custGeom>
              <a:avLst/>
              <a:gdLst/>
              <a:ahLst/>
              <a:cxnLst/>
              <a:rect r="r" b="b" t="t" l="l"/>
              <a:pathLst>
                <a:path h="2435646" w="4513391">
                  <a:moveTo>
                    <a:pt x="16264" y="0"/>
                  </a:moveTo>
                  <a:lnTo>
                    <a:pt x="4497127" y="0"/>
                  </a:lnTo>
                  <a:cubicBezTo>
                    <a:pt x="4506109" y="0"/>
                    <a:pt x="4513391" y="7282"/>
                    <a:pt x="4513391" y="16264"/>
                  </a:cubicBezTo>
                  <a:lnTo>
                    <a:pt x="4513391" y="2419382"/>
                  </a:lnTo>
                  <a:cubicBezTo>
                    <a:pt x="4513391" y="2428364"/>
                    <a:pt x="4506109" y="2435646"/>
                    <a:pt x="4497127" y="2435646"/>
                  </a:cubicBezTo>
                  <a:lnTo>
                    <a:pt x="16264" y="2435646"/>
                  </a:lnTo>
                  <a:cubicBezTo>
                    <a:pt x="7282" y="2435646"/>
                    <a:pt x="0" y="2428364"/>
                    <a:pt x="0" y="2419382"/>
                  </a:cubicBezTo>
                  <a:lnTo>
                    <a:pt x="0" y="16264"/>
                  </a:lnTo>
                  <a:cubicBezTo>
                    <a:pt x="0" y="7282"/>
                    <a:pt x="7282" y="0"/>
                    <a:pt x="16264" y="0"/>
                  </a:cubicBezTo>
                  <a:close/>
                </a:path>
              </a:pathLst>
            </a:custGeom>
            <a:solidFill>
              <a:srgbClr val="EAEAEA">
                <a:alpha val="84706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513391" cy="2483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id="101" name="Cabeçalho 101"/>
          <p:cNvSpPr txBox="1"/>
          <p:nvPr/>
        </p:nvSpPr>
        <p:spPr>
          <a:xfrm>
            <a:off x="1024128" y="932688"/>
            <a:ext cx="1353312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 xml:space="preserve">Apresentado por  </a:t>
            </a:r>
            <a:r>
              <a:rPr lang="pt-BR" sz="1900" b="1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Matheus Rosa, Gabriely Paixão, Yvana Lopes, Milena Vitória e Myriam Caires</a:t>
            </a:r>
          </a:p>
        </p:txBody>
      </p:sp>
      <p:sp>
        <p:nvSpPr>
          <p:cNvPr id="102" name="Ano 102"/>
          <p:cNvSpPr txBox="1"/>
          <p:nvPr/>
        </p:nvSpPr>
        <p:spPr>
          <a:xfrm>
            <a:off x="15453360" y="932688"/>
            <a:ext cx="181051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spc="400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2026</a:t>
            </a:r>
          </a:p>
        </p:txBody>
      </p:sp>
      <p:sp>
        <p:nvSpPr>
          <p:cNvPr id="103" name="Rodapé 103"/>
          <p:cNvSpPr txBox="1"/>
          <p:nvPr/>
        </p:nvSpPr>
        <p:spPr>
          <a:xfrm>
            <a:off x="1024128" y="8887968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>Microbiologia  |  Salmonella</a:t>
            </a:r>
          </a:p>
        </p:txBody>
      </p:sp>
      <p:sp>
        <p:nvSpPr>
          <p:cNvPr id="104" name="Página 104"/>
          <p:cNvSpPr txBox="1"/>
          <p:nvPr/>
        </p:nvSpPr>
        <p:spPr>
          <a:xfrm>
            <a:off x="13624560" y="8887968"/>
            <a:ext cx="363931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 spc="400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PÁGINA 09</a:t>
            </a:r>
          </a:p>
        </p:txBody>
      </p:sp>
      <p:sp>
        <p:nvSpPr>
          <p:cNvPr id="105" name="Título 105"/>
          <p:cNvSpPr txBox="1"/>
          <p:nvPr/>
        </p:nvSpPr>
        <p:spPr>
          <a:xfrm>
            <a:off x="1828800" y="1691640"/>
            <a:ext cx="14630400" cy="12801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800">
                <a:solidFill>
                  <a:srgbClr val="3E721D"/>
                </a:solidFill>
                <a:latin typeface="Lilita One"/>
                <a:ea typeface="Lilita One"/>
                <a:cs typeface="Lilita One"/>
                <a:sym typeface="Lilita One"/>
              </a:rPr>
              <a:t>IMPACTO NO MUNDO</a:t>
            </a:r>
          </a:p>
        </p:txBody>
      </p:sp>
      <p:sp>
        <p:nvSpPr>
          <p:cNvPr id="106" name="Texto 106"/>
          <p:cNvSpPr txBox="1"/>
          <p:nvPr/>
        </p:nvSpPr>
        <p:spPr>
          <a:xfrm>
            <a:off x="1920240" y="3108960"/>
            <a:ext cx="14447520" cy="548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 xml:space="preserve">Para a OMS, a </a:t>
            </a:r>
            <a:r>
              <a:rPr lang="pt-BR" sz="2300" i="1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>Salmonella</a:t>
            </a:r>
            <a:r>
              <a:rPr lang="pt-BR" sz="23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 xml:space="preserve"> é uma das quatro principais causas de diarreia no mundo.</a:t>
            </a:r>
          </a:p>
        </p:txBody>
      </p:sp>
      <p:grpSp>
        <p:nvGrpSpPr>
          <p:cNvPr id="110" name="Número 110"/>
          <p:cNvGrpSpPr/>
          <p:nvPr/>
        </p:nvGrpSpPr>
        <p:grpSpPr>
          <a:xfrm>
            <a:off x="1920240" y="4069080"/>
            <a:ext cx="4526280" cy="3611880"/>
            <a:chOff x="1920240" y="4069080"/>
            <a:chExt cx="4526280" cy="3611880"/>
          </a:xfrm>
        </p:grpSpPr>
        <p:sp>
          <p:nvSpPr>
            <p:cNvPr id="107" name="Cartão 107"/>
            <p:cNvSpPr/>
            <p:nvPr/>
          </p:nvSpPr>
          <p:spPr>
            <a:xfrm>
              <a:off x="1920240" y="4069080"/>
              <a:ext cx="4526280" cy="3611880"/>
            </a:xfrm>
            <a:prstGeom prst="roundRect">
              <a:avLst>
                <a:gd name="adj" fmla="val 2531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8" name="Texto 108"/>
            <p:cNvSpPr txBox="1"/>
            <p:nvPr/>
          </p:nvSpPr>
          <p:spPr>
            <a:xfrm>
              <a:off x="2194560" y="4389120"/>
              <a:ext cx="3977640" cy="1005840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60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94 milhões</a:t>
              </a:r>
            </a:p>
          </p:txBody>
        </p:sp>
        <p:sp>
          <p:nvSpPr>
            <p:cNvPr id="109" name="Texto 109"/>
            <p:cNvSpPr txBox="1"/>
            <p:nvPr/>
          </p:nvSpPr>
          <p:spPr>
            <a:xfrm>
              <a:off x="2286000" y="5577840"/>
              <a:ext cx="3794760" cy="196596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2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de casos de gastroenterite por </a:t>
              </a:r>
              <a:r>
                <a:rPr lang="pt-BR" sz="2200" i="1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Salmonella</a:t>
              </a:r>
              <a:r>
                <a:rPr lang="pt-BR" sz="22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 por ano, com cerca de 155 mil mortes.</a:t>
              </a:r>
            </a:p>
          </p:txBody>
        </p:sp>
      </p:grpSp>
      <p:grpSp>
        <p:nvGrpSpPr>
          <p:cNvPr id="114" name="Número 114"/>
          <p:cNvGrpSpPr/>
          <p:nvPr/>
        </p:nvGrpSpPr>
        <p:grpSpPr>
          <a:xfrm>
            <a:off x="6858000" y="4069080"/>
            <a:ext cx="4526280" cy="3611880"/>
            <a:chOff x="6858000" y="4069080"/>
            <a:chExt cx="4526280" cy="3611880"/>
          </a:xfrm>
        </p:grpSpPr>
        <p:sp>
          <p:nvSpPr>
            <p:cNvPr id="111" name="Cartão 111"/>
            <p:cNvSpPr/>
            <p:nvPr/>
          </p:nvSpPr>
          <p:spPr>
            <a:xfrm>
              <a:off x="6858000" y="4069080"/>
              <a:ext cx="4526280" cy="3611880"/>
            </a:xfrm>
            <a:prstGeom prst="roundRect">
              <a:avLst>
                <a:gd name="adj" fmla="val 2531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2" name="Texto 112"/>
            <p:cNvSpPr txBox="1"/>
            <p:nvPr/>
          </p:nvSpPr>
          <p:spPr>
            <a:xfrm>
              <a:off x="7132320" y="4389120"/>
              <a:ext cx="3977640" cy="1005840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60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9 milhões</a:t>
              </a:r>
            </a:p>
          </p:txBody>
        </p:sp>
        <p:sp>
          <p:nvSpPr>
            <p:cNvPr id="113" name="Texto 113"/>
            <p:cNvSpPr txBox="1"/>
            <p:nvPr/>
          </p:nvSpPr>
          <p:spPr>
            <a:xfrm>
              <a:off x="7223760" y="5577840"/>
              <a:ext cx="3794760" cy="196596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2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de pessoas adoecem de febre tifoide todos os anos no mundo.</a:t>
              </a:r>
            </a:p>
          </p:txBody>
        </p:sp>
      </p:grpSp>
      <p:grpSp>
        <p:nvGrpSpPr>
          <p:cNvPr id="118" name="Número 118"/>
          <p:cNvGrpSpPr/>
          <p:nvPr/>
        </p:nvGrpSpPr>
        <p:grpSpPr>
          <a:xfrm>
            <a:off x="11795760" y="4069080"/>
            <a:ext cx="4526280" cy="3611880"/>
            <a:chOff x="11795760" y="4069080"/>
            <a:chExt cx="4526280" cy="3611880"/>
          </a:xfrm>
        </p:grpSpPr>
        <p:sp>
          <p:nvSpPr>
            <p:cNvPr id="115" name="Cartão 115"/>
            <p:cNvSpPr/>
            <p:nvPr/>
          </p:nvSpPr>
          <p:spPr>
            <a:xfrm>
              <a:off x="11795760" y="4069080"/>
              <a:ext cx="4526280" cy="3611880"/>
            </a:xfrm>
            <a:prstGeom prst="roundRect">
              <a:avLst>
                <a:gd name="adj" fmla="val 2531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6" name="Texto 116"/>
            <p:cNvSpPr txBox="1"/>
            <p:nvPr/>
          </p:nvSpPr>
          <p:spPr>
            <a:xfrm>
              <a:off x="12070080" y="4389120"/>
              <a:ext cx="3977640" cy="1005840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60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110 mil</a:t>
              </a:r>
            </a:p>
          </p:txBody>
        </p:sp>
        <p:sp>
          <p:nvSpPr>
            <p:cNvPr id="117" name="Texto 117"/>
            <p:cNvSpPr txBox="1"/>
            <p:nvPr/>
          </p:nvSpPr>
          <p:spPr>
            <a:xfrm>
              <a:off x="12161520" y="5577840"/>
              <a:ext cx="3794760" cy="196596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2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mortes por febre tifoide por ano, sobretudo em regiões sem saneamento básico.</a:t>
              </a:r>
            </a:p>
          </p:txBody>
        </p:sp>
      </p:grpSp>
      <p:sp>
        <p:nvSpPr>
          <p:cNvPr id="119" name="Fonte 119"/>
          <p:cNvSpPr txBox="1"/>
          <p:nvPr/>
        </p:nvSpPr>
        <p:spPr>
          <a:xfrm>
            <a:off x="4572000" y="80010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3E721D"/>
                </a:solidFill>
                <a:latin typeface="Garet Light"/>
                <a:ea typeface="Garet Light"/>
                <a:cs typeface="Garet Light"/>
                <a:sym typeface="Garet Light"/>
              </a:rPr>
              <a:t>Fontes: OMS (2018; 2023) e Majowicz et al. (2010).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  <p:bldP spid="106" grpId="0"/>
    </p:bldLst>
  </p:timing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86402">
            <a:off x="-522939" y="-367883"/>
            <a:ext cx="3377819" cy="2794377"/>
          </a:xfrm>
          <a:custGeom>
            <a:avLst/>
            <a:gdLst/>
            <a:ahLst/>
            <a:cxnLst/>
            <a:rect r="r" b="b" t="t" l="l"/>
            <a:pathLst>
              <a:path h="2794377" w="3377819">
                <a:moveTo>
                  <a:pt x="0" y="0"/>
                </a:moveTo>
                <a:lnTo>
                  <a:pt x="3377819" y="0"/>
                </a:lnTo>
                <a:lnTo>
                  <a:pt x="3377819" y="2794377"/>
                </a:lnTo>
                <a:lnTo>
                  <a:pt x="0" y="27943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493517">
            <a:off x="15427516" y="7870636"/>
            <a:ext cx="3377819" cy="2794377"/>
          </a:xfrm>
          <a:custGeom>
            <a:avLst/>
            <a:gdLst/>
            <a:ahLst/>
            <a:cxnLst/>
            <a:rect r="r" b="b" t="t" l="l"/>
            <a:pathLst>
              <a:path h="2794377" w="3377819">
                <a:moveTo>
                  <a:pt x="3377818" y="2794378"/>
                </a:moveTo>
                <a:lnTo>
                  <a:pt x="0" y="2794378"/>
                </a:lnTo>
                <a:lnTo>
                  <a:pt x="0" y="0"/>
                </a:lnTo>
                <a:lnTo>
                  <a:pt x="3377818" y="0"/>
                </a:lnTo>
                <a:lnTo>
                  <a:pt x="3377818" y="2794378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11420">
            <a:off x="-1223133" y="7592707"/>
            <a:ext cx="3922436" cy="3922436"/>
          </a:xfrm>
          <a:custGeom>
            <a:avLst/>
            <a:gdLst/>
            <a:ahLst/>
            <a:cxnLst/>
            <a:rect r="r" b="b" t="t" l="l"/>
            <a:pathLst>
              <a:path h="3922436" w="3922436">
                <a:moveTo>
                  <a:pt x="0" y="0"/>
                </a:moveTo>
                <a:lnTo>
                  <a:pt x="3922436" y="0"/>
                </a:lnTo>
                <a:lnTo>
                  <a:pt x="3922436" y="3922436"/>
                </a:lnTo>
                <a:lnTo>
                  <a:pt x="0" y="3922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1317334">
            <a:off x="15593357" y="-1229411"/>
            <a:ext cx="3922436" cy="3922436"/>
          </a:xfrm>
          <a:custGeom>
            <a:avLst/>
            <a:gdLst/>
            <a:ahLst/>
            <a:cxnLst/>
            <a:rect r="r" b="b" t="t" l="l"/>
            <a:pathLst>
              <a:path h="3922436" w="3922436">
                <a:moveTo>
                  <a:pt x="3922436" y="3922436"/>
                </a:moveTo>
                <a:lnTo>
                  <a:pt x="0" y="3922436"/>
                </a:lnTo>
                <a:lnTo>
                  <a:pt x="0" y="0"/>
                </a:lnTo>
                <a:lnTo>
                  <a:pt x="3922436" y="0"/>
                </a:lnTo>
                <a:lnTo>
                  <a:pt x="3922436" y="3922436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302437">
            <a:off x="1854647" y="8837398"/>
            <a:ext cx="2867640" cy="2400454"/>
          </a:xfrm>
          <a:custGeom>
            <a:avLst/>
            <a:gdLst/>
            <a:ahLst/>
            <a:cxnLst/>
            <a:rect r="r" b="b" t="t" l="l"/>
            <a:pathLst>
              <a:path h="2400454" w="2867640">
                <a:moveTo>
                  <a:pt x="2867641" y="2400454"/>
                </a:moveTo>
                <a:lnTo>
                  <a:pt x="0" y="2400454"/>
                </a:lnTo>
                <a:lnTo>
                  <a:pt x="0" y="0"/>
                </a:lnTo>
                <a:lnTo>
                  <a:pt x="2867641" y="0"/>
                </a:lnTo>
                <a:lnTo>
                  <a:pt x="2867641" y="2400454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02437">
            <a:off x="13568501" y="-789560"/>
            <a:ext cx="2867640" cy="2400454"/>
          </a:xfrm>
          <a:custGeom>
            <a:avLst/>
            <a:gdLst/>
            <a:ahLst/>
            <a:cxnLst/>
            <a:rect r="r" b="b" t="t" l="l"/>
            <a:pathLst>
              <a:path h="2400454" w="2867640">
                <a:moveTo>
                  <a:pt x="0" y="0"/>
                </a:moveTo>
                <a:lnTo>
                  <a:pt x="2867640" y="0"/>
                </a:lnTo>
                <a:lnTo>
                  <a:pt x="2867640" y="2400454"/>
                </a:lnTo>
                <a:lnTo>
                  <a:pt x="0" y="24004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2272826" y="-512289"/>
            <a:ext cx="1682856" cy="1845911"/>
          </a:xfrm>
          <a:custGeom>
            <a:avLst/>
            <a:gdLst/>
            <a:ahLst/>
            <a:cxnLst/>
            <a:rect r="r" b="b" t="t" l="l"/>
            <a:pathLst>
              <a:path h="1845911" w="1682856">
                <a:moveTo>
                  <a:pt x="1682856" y="1845912"/>
                </a:moveTo>
                <a:lnTo>
                  <a:pt x="0" y="1845912"/>
                </a:lnTo>
                <a:lnTo>
                  <a:pt x="0" y="0"/>
                </a:lnTo>
                <a:lnTo>
                  <a:pt x="1682856" y="0"/>
                </a:lnTo>
                <a:lnTo>
                  <a:pt x="1682856" y="1845912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326046" y="8951105"/>
            <a:ext cx="1682856" cy="1845911"/>
          </a:xfrm>
          <a:custGeom>
            <a:avLst/>
            <a:gdLst/>
            <a:ahLst/>
            <a:cxnLst/>
            <a:rect r="r" b="b" t="t" l="l"/>
            <a:pathLst>
              <a:path h="1845911" w="1682856">
                <a:moveTo>
                  <a:pt x="0" y="0"/>
                </a:moveTo>
                <a:lnTo>
                  <a:pt x="1682856" y="0"/>
                </a:lnTo>
                <a:lnTo>
                  <a:pt x="1682856" y="1845911"/>
                </a:lnTo>
                <a:lnTo>
                  <a:pt x="0" y="18459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017940">
            <a:off x="16670810" y="5992839"/>
            <a:ext cx="2647083" cy="2021409"/>
          </a:xfrm>
          <a:custGeom>
            <a:avLst/>
            <a:gdLst/>
            <a:ahLst/>
            <a:cxnLst/>
            <a:rect r="r" b="b" t="t" l="l"/>
            <a:pathLst>
              <a:path h="2021409" w="2647083">
                <a:moveTo>
                  <a:pt x="0" y="0"/>
                </a:moveTo>
                <a:lnTo>
                  <a:pt x="2647083" y="0"/>
                </a:lnTo>
                <a:lnTo>
                  <a:pt x="2647083" y="2021408"/>
                </a:lnTo>
                <a:lnTo>
                  <a:pt x="0" y="20214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-2017940">
            <a:off x="-1031598" y="2271015"/>
            <a:ext cx="2647083" cy="2021409"/>
          </a:xfrm>
          <a:custGeom>
            <a:avLst/>
            <a:gdLst/>
            <a:ahLst/>
            <a:cxnLst/>
            <a:rect r="r" b="b" t="t" l="l"/>
            <a:pathLst>
              <a:path h="2021409" w="2647083">
                <a:moveTo>
                  <a:pt x="2647082" y="2021408"/>
                </a:moveTo>
                <a:lnTo>
                  <a:pt x="0" y="2021408"/>
                </a:lnTo>
                <a:lnTo>
                  <a:pt x="0" y="0"/>
                </a:lnTo>
                <a:lnTo>
                  <a:pt x="2647082" y="0"/>
                </a:lnTo>
                <a:lnTo>
                  <a:pt x="2647082" y="2021408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75609" y="519578"/>
            <a:ext cx="17136781" cy="9247843"/>
            <a:chOff x="0" y="0"/>
            <a:chExt cx="4513391" cy="24356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13391" cy="2435646"/>
            </a:xfrm>
            <a:custGeom>
              <a:avLst/>
              <a:gdLst/>
              <a:ahLst/>
              <a:cxnLst/>
              <a:rect r="r" b="b" t="t" l="l"/>
              <a:pathLst>
                <a:path h="2435646" w="4513391">
                  <a:moveTo>
                    <a:pt x="16264" y="0"/>
                  </a:moveTo>
                  <a:lnTo>
                    <a:pt x="4497127" y="0"/>
                  </a:lnTo>
                  <a:cubicBezTo>
                    <a:pt x="4506109" y="0"/>
                    <a:pt x="4513391" y="7282"/>
                    <a:pt x="4513391" y="16264"/>
                  </a:cubicBezTo>
                  <a:lnTo>
                    <a:pt x="4513391" y="2419382"/>
                  </a:lnTo>
                  <a:cubicBezTo>
                    <a:pt x="4513391" y="2428364"/>
                    <a:pt x="4506109" y="2435646"/>
                    <a:pt x="4497127" y="2435646"/>
                  </a:cubicBezTo>
                  <a:lnTo>
                    <a:pt x="16264" y="2435646"/>
                  </a:lnTo>
                  <a:cubicBezTo>
                    <a:pt x="7282" y="2435646"/>
                    <a:pt x="0" y="2428364"/>
                    <a:pt x="0" y="2419382"/>
                  </a:cubicBezTo>
                  <a:lnTo>
                    <a:pt x="0" y="16264"/>
                  </a:lnTo>
                  <a:cubicBezTo>
                    <a:pt x="0" y="7282"/>
                    <a:pt x="7282" y="0"/>
                    <a:pt x="16264" y="0"/>
                  </a:cubicBezTo>
                  <a:close/>
                </a:path>
              </a:pathLst>
            </a:custGeom>
            <a:solidFill>
              <a:srgbClr val="EAEAEA">
                <a:alpha val="84706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513391" cy="2483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id="101" name="Cabeçalho 101"/>
          <p:cNvSpPr txBox="1"/>
          <p:nvPr/>
        </p:nvSpPr>
        <p:spPr>
          <a:xfrm>
            <a:off x="1024128" y="932688"/>
            <a:ext cx="1353312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 xml:space="preserve">Apresentado por  </a:t>
            </a:r>
            <a:r>
              <a:rPr lang="pt-BR" sz="1900" b="1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Matheus Rosa, Gabriely Paixão, Yvana Lopes, Milena Vitória e Myriam Caires</a:t>
            </a:r>
          </a:p>
        </p:txBody>
      </p:sp>
      <p:sp>
        <p:nvSpPr>
          <p:cNvPr id="102" name="Ano 102"/>
          <p:cNvSpPr txBox="1"/>
          <p:nvPr/>
        </p:nvSpPr>
        <p:spPr>
          <a:xfrm>
            <a:off x="15453360" y="932688"/>
            <a:ext cx="181051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spc="400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2026</a:t>
            </a:r>
          </a:p>
        </p:txBody>
      </p:sp>
      <p:sp>
        <p:nvSpPr>
          <p:cNvPr id="103" name="Rodapé 103"/>
          <p:cNvSpPr txBox="1"/>
          <p:nvPr/>
        </p:nvSpPr>
        <p:spPr>
          <a:xfrm>
            <a:off x="1024128" y="8887968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>Microbiologia  |  Salmonella</a:t>
            </a:r>
          </a:p>
        </p:txBody>
      </p:sp>
      <p:sp>
        <p:nvSpPr>
          <p:cNvPr id="104" name="Página 104"/>
          <p:cNvSpPr txBox="1"/>
          <p:nvPr/>
        </p:nvSpPr>
        <p:spPr>
          <a:xfrm>
            <a:off x="13624560" y="8887968"/>
            <a:ext cx="363931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 spc="400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PÁGINA 10</a:t>
            </a:r>
          </a:p>
        </p:txBody>
      </p:sp>
      <p:sp>
        <p:nvSpPr>
          <p:cNvPr id="105" name="Título 105"/>
          <p:cNvSpPr txBox="1"/>
          <p:nvPr/>
        </p:nvSpPr>
        <p:spPr>
          <a:xfrm>
            <a:off x="1828800" y="1783080"/>
            <a:ext cx="14630400" cy="12801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800">
                <a:solidFill>
                  <a:srgbClr val="3E721D"/>
                </a:solidFill>
                <a:latin typeface="Lilita One"/>
                <a:ea typeface="Lilita One"/>
                <a:cs typeface="Lilita One"/>
                <a:sym typeface="Lilita One"/>
              </a:rPr>
              <a:t>SINTOMAS E TRATAMENTO</a:t>
            </a:r>
          </a:p>
        </p:txBody>
      </p:sp>
      <p:grpSp>
        <p:nvGrpSpPr>
          <p:cNvPr id="109" name="Coluna 109"/>
          <p:cNvGrpSpPr/>
          <p:nvPr/>
        </p:nvGrpSpPr>
        <p:grpSpPr>
          <a:xfrm>
            <a:off x="1920240" y="3429000"/>
            <a:ext cx="4526280" cy="4206240"/>
            <a:chOff x="1920240" y="3429000"/>
            <a:chExt cx="4526280" cy="4206240"/>
          </a:xfrm>
        </p:grpSpPr>
        <p:sp>
          <p:nvSpPr>
            <p:cNvPr id="106" name="Cartão 106"/>
            <p:cNvSpPr/>
            <p:nvPr/>
          </p:nvSpPr>
          <p:spPr>
            <a:xfrm>
              <a:off x="1920240" y="3429000"/>
              <a:ext cx="4526280" cy="4206240"/>
            </a:xfrm>
            <a:prstGeom prst="roundRect">
              <a:avLst>
                <a:gd name="adj" fmla="val 2173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7" name="Texto 107"/>
            <p:cNvSpPr txBox="1"/>
            <p:nvPr/>
          </p:nvSpPr>
          <p:spPr>
            <a:xfrm>
              <a:off x="2240280" y="3703320"/>
              <a:ext cx="3886200" cy="8686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58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01</a:t>
              </a:r>
            </a:p>
          </p:txBody>
        </p:sp>
        <p:sp>
          <p:nvSpPr>
            <p:cNvPr id="108" name="Texto 108"/>
            <p:cNvSpPr txBox="1"/>
            <p:nvPr/>
          </p:nvSpPr>
          <p:spPr>
            <a:xfrm>
              <a:off x="2240280" y="4617720"/>
              <a:ext cx="3886200" cy="288036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pt-BR" sz="30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Sintomas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2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Diarreia, febre, cólicas abdominais, náuseas, vômitos e dor de cabeça. A desidratação é o maior risco.</a:t>
              </a:r>
            </a:p>
          </p:txBody>
        </p:sp>
      </p:grpSp>
      <p:grpSp>
        <p:nvGrpSpPr>
          <p:cNvPr id="113" name="Coluna 113"/>
          <p:cNvGrpSpPr/>
          <p:nvPr/>
        </p:nvGrpSpPr>
        <p:grpSpPr>
          <a:xfrm>
            <a:off x="6858000" y="3429000"/>
            <a:ext cx="4526280" cy="4206240"/>
            <a:chOff x="6858000" y="3429000"/>
            <a:chExt cx="4526280" cy="4206240"/>
          </a:xfrm>
        </p:grpSpPr>
        <p:sp>
          <p:nvSpPr>
            <p:cNvPr id="110" name="Cartão 110"/>
            <p:cNvSpPr/>
            <p:nvPr/>
          </p:nvSpPr>
          <p:spPr>
            <a:xfrm>
              <a:off x="6858000" y="3429000"/>
              <a:ext cx="4526280" cy="4206240"/>
            </a:xfrm>
            <a:prstGeom prst="roundRect">
              <a:avLst>
                <a:gd name="adj" fmla="val 2173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1" name="Texto 111"/>
            <p:cNvSpPr txBox="1"/>
            <p:nvPr/>
          </p:nvSpPr>
          <p:spPr>
            <a:xfrm>
              <a:off x="7178040" y="3703320"/>
              <a:ext cx="3886200" cy="8686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58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02</a:t>
              </a:r>
            </a:p>
          </p:txBody>
        </p:sp>
        <p:sp>
          <p:nvSpPr>
            <p:cNvPr id="112" name="Texto 112"/>
            <p:cNvSpPr txBox="1"/>
            <p:nvPr/>
          </p:nvSpPr>
          <p:spPr>
            <a:xfrm>
              <a:off x="7178040" y="4617720"/>
              <a:ext cx="3886200" cy="288036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pt-BR" sz="30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Diagnóstico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2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Cultura de fezes (coprocultura) ou de sangue (hemocultura), que identifica a bactéria em laboratório.</a:t>
              </a:r>
            </a:p>
          </p:txBody>
        </p:sp>
      </p:grpSp>
      <p:grpSp>
        <p:nvGrpSpPr>
          <p:cNvPr id="117" name="Coluna 117"/>
          <p:cNvGrpSpPr/>
          <p:nvPr/>
        </p:nvGrpSpPr>
        <p:grpSpPr>
          <a:xfrm>
            <a:off x="11795760" y="3429000"/>
            <a:ext cx="4526280" cy="4206240"/>
            <a:chOff x="11795760" y="3429000"/>
            <a:chExt cx="4526280" cy="4206240"/>
          </a:xfrm>
        </p:grpSpPr>
        <p:sp>
          <p:nvSpPr>
            <p:cNvPr id="114" name="Cartão 114"/>
            <p:cNvSpPr/>
            <p:nvPr/>
          </p:nvSpPr>
          <p:spPr>
            <a:xfrm>
              <a:off x="11795760" y="3429000"/>
              <a:ext cx="4526280" cy="4206240"/>
            </a:xfrm>
            <a:prstGeom prst="roundRect">
              <a:avLst>
                <a:gd name="adj" fmla="val 2173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5" name="Texto 115"/>
            <p:cNvSpPr txBox="1"/>
            <p:nvPr/>
          </p:nvSpPr>
          <p:spPr>
            <a:xfrm>
              <a:off x="12115800" y="3703320"/>
              <a:ext cx="3886200" cy="8686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58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03</a:t>
              </a:r>
            </a:p>
          </p:txBody>
        </p:sp>
        <p:sp>
          <p:nvSpPr>
            <p:cNvPr id="116" name="Texto 116"/>
            <p:cNvSpPr txBox="1"/>
            <p:nvPr/>
          </p:nvSpPr>
          <p:spPr>
            <a:xfrm>
              <a:off x="12115800" y="4617720"/>
              <a:ext cx="3886200" cy="288036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pt-BR" sz="30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Tratamento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2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Hidratação e repouso. Antibióticos só em casos graves e na febre tifoide, sempre com orientação médica.</a:t>
              </a:r>
            </a:p>
          </p:txBody>
        </p:sp>
      </p:grpSp>
      <p:sp>
        <p:nvSpPr>
          <p:cNvPr id="118" name="Nota 118"/>
          <p:cNvSpPr txBox="1"/>
          <p:nvPr/>
        </p:nvSpPr>
        <p:spPr>
          <a:xfrm>
            <a:off x="1920240" y="7818120"/>
            <a:ext cx="14447520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Não se automedique!</a:t>
            </a:r>
            <a:r>
              <a:rPr lang="pt-BR" sz="21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 xml:space="preserve"> Procure um médico se houver sangue nas fezes, febre alta ou desidratação.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  <p:bldP spid="118" grpId="0"/>
    </p:bldLst>
  </p:timing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86402">
            <a:off x="-522939" y="-367883"/>
            <a:ext cx="3377819" cy="2794377"/>
          </a:xfrm>
          <a:custGeom>
            <a:avLst/>
            <a:gdLst/>
            <a:ahLst/>
            <a:cxnLst/>
            <a:rect r="r" b="b" t="t" l="l"/>
            <a:pathLst>
              <a:path h="2794377" w="3377819">
                <a:moveTo>
                  <a:pt x="0" y="0"/>
                </a:moveTo>
                <a:lnTo>
                  <a:pt x="3377819" y="0"/>
                </a:lnTo>
                <a:lnTo>
                  <a:pt x="3377819" y="2794377"/>
                </a:lnTo>
                <a:lnTo>
                  <a:pt x="0" y="27943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493517">
            <a:off x="15427516" y="7870636"/>
            <a:ext cx="3377819" cy="2794377"/>
          </a:xfrm>
          <a:custGeom>
            <a:avLst/>
            <a:gdLst/>
            <a:ahLst/>
            <a:cxnLst/>
            <a:rect r="r" b="b" t="t" l="l"/>
            <a:pathLst>
              <a:path h="2794377" w="3377819">
                <a:moveTo>
                  <a:pt x="3377818" y="2794378"/>
                </a:moveTo>
                <a:lnTo>
                  <a:pt x="0" y="2794378"/>
                </a:lnTo>
                <a:lnTo>
                  <a:pt x="0" y="0"/>
                </a:lnTo>
                <a:lnTo>
                  <a:pt x="3377818" y="0"/>
                </a:lnTo>
                <a:lnTo>
                  <a:pt x="3377818" y="2794378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11420">
            <a:off x="-1223133" y="7592707"/>
            <a:ext cx="3922436" cy="3922436"/>
          </a:xfrm>
          <a:custGeom>
            <a:avLst/>
            <a:gdLst/>
            <a:ahLst/>
            <a:cxnLst/>
            <a:rect r="r" b="b" t="t" l="l"/>
            <a:pathLst>
              <a:path h="3922436" w="3922436">
                <a:moveTo>
                  <a:pt x="0" y="0"/>
                </a:moveTo>
                <a:lnTo>
                  <a:pt x="3922436" y="0"/>
                </a:lnTo>
                <a:lnTo>
                  <a:pt x="3922436" y="3922436"/>
                </a:lnTo>
                <a:lnTo>
                  <a:pt x="0" y="3922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1317334">
            <a:off x="15593357" y="-1229411"/>
            <a:ext cx="3922436" cy="3922436"/>
          </a:xfrm>
          <a:custGeom>
            <a:avLst/>
            <a:gdLst/>
            <a:ahLst/>
            <a:cxnLst/>
            <a:rect r="r" b="b" t="t" l="l"/>
            <a:pathLst>
              <a:path h="3922436" w="3922436">
                <a:moveTo>
                  <a:pt x="3922436" y="3922436"/>
                </a:moveTo>
                <a:lnTo>
                  <a:pt x="0" y="3922436"/>
                </a:lnTo>
                <a:lnTo>
                  <a:pt x="0" y="0"/>
                </a:lnTo>
                <a:lnTo>
                  <a:pt x="3922436" y="0"/>
                </a:lnTo>
                <a:lnTo>
                  <a:pt x="3922436" y="3922436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302437">
            <a:off x="1854647" y="8837398"/>
            <a:ext cx="2867640" cy="2400454"/>
          </a:xfrm>
          <a:custGeom>
            <a:avLst/>
            <a:gdLst/>
            <a:ahLst/>
            <a:cxnLst/>
            <a:rect r="r" b="b" t="t" l="l"/>
            <a:pathLst>
              <a:path h="2400454" w="2867640">
                <a:moveTo>
                  <a:pt x="2867641" y="2400454"/>
                </a:moveTo>
                <a:lnTo>
                  <a:pt x="0" y="2400454"/>
                </a:lnTo>
                <a:lnTo>
                  <a:pt x="0" y="0"/>
                </a:lnTo>
                <a:lnTo>
                  <a:pt x="2867641" y="0"/>
                </a:lnTo>
                <a:lnTo>
                  <a:pt x="2867641" y="2400454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02437">
            <a:off x="13568501" y="-789560"/>
            <a:ext cx="2867640" cy="2400454"/>
          </a:xfrm>
          <a:custGeom>
            <a:avLst/>
            <a:gdLst/>
            <a:ahLst/>
            <a:cxnLst/>
            <a:rect r="r" b="b" t="t" l="l"/>
            <a:pathLst>
              <a:path h="2400454" w="2867640">
                <a:moveTo>
                  <a:pt x="0" y="0"/>
                </a:moveTo>
                <a:lnTo>
                  <a:pt x="2867640" y="0"/>
                </a:lnTo>
                <a:lnTo>
                  <a:pt x="2867640" y="2400454"/>
                </a:lnTo>
                <a:lnTo>
                  <a:pt x="0" y="24004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2272826" y="-512289"/>
            <a:ext cx="1682856" cy="1845911"/>
          </a:xfrm>
          <a:custGeom>
            <a:avLst/>
            <a:gdLst/>
            <a:ahLst/>
            <a:cxnLst/>
            <a:rect r="r" b="b" t="t" l="l"/>
            <a:pathLst>
              <a:path h="1845911" w="1682856">
                <a:moveTo>
                  <a:pt x="1682856" y="1845912"/>
                </a:moveTo>
                <a:lnTo>
                  <a:pt x="0" y="1845912"/>
                </a:lnTo>
                <a:lnTo>
                  <a:pt x="0" y="0"/>
                </a:lnTo>
                <a:lnTo>
                  <a:pt x="1682856" y="0"/>
                </a:lnTo>
                <a:lnTo>
                  <a:pt x="1682856" y="1845912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326046" y="8951105"/>
            <a:ext cx="1682856" cy="1845911"/>
          </a:xfrm>
          <a:custGeom>
            <a:avLst/>
            <a:gdLst/>
            <a:ahLst/>
            <a:cxnLst/>
            <a:rect r="r" b="b" t="t" l="l"/>
            <a:pathLst>
              <a:path h="1845911" w="1682856">
                <a:moveTo>
                  <a:pt x="0" y="0"/>
                </a:moveTo>
                <a:lnTo>
                  <a:pt x="1682856" y="0"/>
                </a:lnTo>
                <a:lnTo>
                  <a:pt x="1682856" y="1845911"/>
                </a:lnTo>
                <a:lnTo>
                  <a:pt x="0" y="18459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017940">
            <a:off x="16670810" y="5992839"/>
            <a:ext cx="2647083" cy="2021409"/>
          </a:xfrm>
          <a:custGeom>
            <a:avLst/>
            <a:gdLst/>
            <a:ahLst/>
            <a:cxnLst/>
            <a:rect r="r" b="b" t="t" l="l"/>
            <a:pathLst>
              <a:path h="2021409" w="2647083">
                <a:moveTo>
                  <a:pt x="0" y="0"/>
                </a:moveTo>
                <a:lnTo>
                  <a:pt x="2647083" y="0"/>
                </a:lnTo>
                <a:lnTo>
                  <a:pt x="2647083" y="2021408"/>
                </a:lnTo>
                <a:lnTo>
                  <a:pt x="0" y="20214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-2017940">
            <a:off x="-1031598" y="2271015"/>
            <a:ext cx="2647083" cy="2021409"/>
          </a:xfrm>
          <a:custGeom>
            <a:avLst/>
            <a:gdLst/>
            <a:ahLst/>
            <a:cxnLst/>
            <a:rect r="r" b="b" t="t" l="l"/>
            <a:pathLst>
              <a:path h="2021409" w="2647083">
                <a:moveTo>
                  <a:pt x="2647082" y="2021408"/>
                </a:moveTo>
                <a:lnTo>
                  <a:pt x="0" y="2021408"/>
                </a:lnTo>
                <a:lnTo>
                  <a:pt x="0" y="0"/>
                </a:lnTo>
                <a:lnTo>
                  <a:pt x="2647082" y="0"/>
                </a:lnTo>
                <a:lnTo>
                  <a:pt x="2647082" y="2021408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75609" y="519578"/>
            <a:ext cx="17136781" cy="9247843"/>
            <a:chOff x="0" y="0"/>
            <a:chExt cx="4513391" cy="24356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13391" cy="2435646"/>
            </a:xfrm>
            <a:custGeom>
              <a:avLst/>
              <a:gdLst/>
              <a:ahLst/>
              <a:cxnLst/>
              <a:rect r="r" b="b" t="t" l="l"/>
              <a:pathLst>
                <a:path h="2435646" w="4513391">
                  <a:moveTo>
                    <a:pt x="16264" y="0"/>
                  </a:moveTo>
                  <a:lnTo>
                    <a:pt x="4497127" y="0"/>
                  </a:lnTo>
                  <a:cubicBezTo>
                    <a:pt x="4506109" y="0"/>
                    <a:pt x="4513391" y="7282"/>
                    <a:pt x="4513391" y="16264"/>
                  </a:cubicBezTo>
                  <a:lnTo>
                    <a:pt x="4513391" y="2419382"/>
                  </a:lnTo>
                  <a:cubicBezTo>
                    <a:pt x="4513391" y="2428364"/>
                    <a:pt x="4506109" y="2435646"/>
                    <a:pt x="4497127" y="2435646"/>
                  </a:cubicBezTo>
                  <a:lnTo>
                    <a:pt x="16264" y="2435646"/>
                  </a:lnTo>
                  <a:cubicBezTo>
                    <a:pt x="7282" y="2435646"/>
                    <a:pt x="0" y="2428364"/>
                    <a:pt x="0" y="2419382"/>
                  </a:cubicBezTo>
                  <a:lnTo>
                    <a:pt x="0" y="16264"/>
                  </a:lnTo>
                  <a:cubicBezTo>
                    <a:pt x="0" y="7282"/>
                    <a:pt x="7282" y="0"/>
                    <a:pt x="16264" y="0"/>
                  </a:cubicBezTo>
                  <a:close/>
                </a:path>
              </a:pathLst>
            </a:custGeom>
            <a:solidFill>
              <a:srgbClr val="EAEAEA">
                <a:alpha val="84706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513391" cy="2483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id="101" name="Cabeçalho 101"/>
          <p:cNvSpPr txBox="1"/>
          <p:nvPr/>
        </p:nvSpPr>
        <p:spPr>
          <a:xfrm>
            <a:off x="1024128" y="932688"/>
            <a:ext cx="1353312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 xml:space="preserve">Apresentado por  </a:t>
            </a:r>
            <a:r>
              <a:rPr lang="pt-BR" sz="1900" b="1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Matheus Rosa, Gabriely Paixão, Yvana Lopes, Milena Vitória e Myriam Caires</a:t>
            </a:r>
          </a:p>
        </p:txBody>
      </p:sp>
      <p:sp>
        <p:nvSpPr>
          <p:cNvPr id="102" name="Ano 102"/>
          <p:cNvSpPr txBox="1"/>
          <p:nvPr/>
        </p:nvSpPr>
        <p:spPr>
          <a:xfrm>
            <a:off x="15453360" y="932688"/>
            <a:ext cx="181051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spc="400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2026</a:t>
            </a:r>
          </a:p>
        </p:txBody>
      </p:sp>
      <p:sp>
        <p:nvSpPr>
          <p:cNvPr id="103" name="Rodapé 103"/>
          <p:cNvSpPr txBox="1"/>
          <p:nvPr/>
        </p:nvSpPr>
        <p:spPr>
          <a:xfrm>
            <a:off x="1024128" y="8887968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>Microbiologia  |  Salmonella</a:t>
            </a:r>
          </a:p>
        </p:txBody>
      </p:sp>
      <p:sp>
        <p:nvSpPr>
          <p:cNvPr id="104" name="Página 104"/>
          <p:cNvSpPr txBox="1"/>
          <p:nvPr/>
        </p:nvSpPr>
        <p:spPr>
          <a:xfrm>
            <a:off x="13624560" y="8887968"/>
            <a:ext cx="363931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 spc="400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PÁGINA 11</a:t>
            </a:r>
          </a:p>
        </p:txBody>
      </p:sp>
      <p:sp>
        <p:nvSpPr>
          <p:cNvPr id="105" name="Título 105"/>
          <p:cNvSpPr txBox="1"/>
          <p:nvPr/>
        </p:nvSpPr>
        <p:spPr>
          <a:xfrm>
            <a:off x="1463040" y="1828800"/>
            <a:ext cx="6400800" cy="356616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>
                <a:solidFill>
                  <a:srgbClr val="3E721D"/>
                </a:solidFill>
                <a:latin typeface="Lilita One"/>
                <a:ea typeface="Lilita One"/>
                <a:cs typeface="Lilita One"/>
                <a:sym typeface="Lilita One"/>
              </a:rPr>
              <a:t>COMO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>
                <a:solidFill>
                  <a:srgbClr val="3E721D"/>
                </a:solidFill>
                <a:latin typeface="Lilita One"/>
                <a:ea typeface="Lilita One"/>
                <a:cs typeface="Lilita One"/>
                <a:sym typeface="Lilita One"/>
              </a:rPr>
              <a:t>PREVENIR</a:t>
            </a:r>
          </a:p>
        </p:txBody>
      </p:sp>
      <p:sp>
        <p:nvSpPr>
          <p:cNvPr id="106" name="Texto 106"/>
          <p:cNvSpPr txBox="1"/>
          <p:nvPr/>
        </p:nvSpPr>
        <p:spPr>
          <a:xfrm>
            <a:off x="1463040" y="5669280"/>
            <a:ext cx="6035040" cy="2743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>A maioria dos casos pode ser evitada com cuidados simples no dia a dia, baseados nas "Cinco chaves para uma alimentação mais segura" da OMS.</a:t>
            </a:r>
          </a:p>
        </p:txBody>
      </p:sp>
      <p:grpSp>
        <p:nvGrpSpPr>
          <p:cNvPr id="110" name="Item 110"/>
          <p:cNvGrpSpPr/>
          <p:nvPr/>
        </p:nvGrpSpPr>
        <p:grpSpPr>
          <a:xfrm>
            <a:off x="8229600" y="1837944"/>
            <a:ext cx="8412480" cy="1481328"/>
            <a:chOff x="8229600" y="1837944"/>
            <a:chExt cx="8412480" cy="1481328"/>
          </a:xfrm>
        </p:grpSpPr>
        <p:sp>
          <p:nvSpPr>
            <p:cNvPr id="107" name="Cartão 107"/>
            <p:cNvSpPr/>
            <p:nvPr/>
          </p:nvSpPr>
          <p:spPr>
            <a:xfrm>
              <a:off x="8229600" y="1837944"/>
              <a:ext cx="8412480" cy="1481328"/>
            </a:xfrm>
            <a:prstGeom prst="roundRect">
              <a:avLst>
                <a:gd name="adj" fmla="val 6172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8" name="Texto 108"/>
            <p:cNvSpPr txBox="1"/>
            <p:nvPr/>
          </p:nvSpPr>
          <p:spPr>
            <a:xfrm>
              <a:off x="8503920" y="1837944"/>
              <a:ext cx="1097280" cy="1481328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4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01</a:t>
              </a:r>
            </a:p>
          </p:txBody>
        </p:sp>
        <p:sp>
          <p:nvSpPr>
            <p:cNvPr id="109" name="Texto 109"/>
            <p:cNvSpPr txBox="1"/>
            <p:nvPr/>
          </p:nvSpPr>
          <p:spPr>
            <a:xfrm>
              <a:off x="9646920" y="1837944"/>
              <a:ext cx="6720840" cy="1481328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100" b="1">
                  <a:solidFill>
                    <a:srgbClr val="3E721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Lave as mãos</a:t>
              </a:r>
              <a:r>
                <a:rPr lang="pt-BR" sz="21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 com água e sabão antes de preparar alimentos, após usar o banheiro e após tocar em animais.</a:t>
              </a:r>
            </a:p>
          </p:txBody>
        </p:sp>
      </p:grpSp>
      <p:grpSp>
        <p:nvGrpSpPr>
          <p:cNvPr id="114" name="Item 114"/>
          <p:cNvGrpSpPr/>
          <p:nvPr/>
        </p:nvGrpSpPr>
        <p:grpSpPr>
          <a:xfrm>
            <a:off x="8229600" y="3547872"/>
            <a:ext cx="8412480" cy="1481328"/>
            <a:chOff x="8229600" y="3547872"/>
            <a:chExt cx="8412480" cy="1481328"/>
          </a:xfrm>
        </p:grpSpPr>
        <p:sp>
          <p:nvSpPr>
            <p:cNvPr id="111" name="Cartão 111"/>
            <p:cNvSpPr/>
            <p:nvPr/>
          </p:nvSpPr>
          <p:spPr>
            <a:xfrm>
              <a:off x="8229600" y="3547872"/>
              <a:ext cx="8412480" cy="1481328"/>
            </a:xfrm>
            <a:prstGeom prst="roundRect">
              <a:avLst>
                <a:gd name="adj" fmla="val 6172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2" name="Texto 112"/>
            <p:cNvSpPr txBox="1"/>
            <p:nvPr/>
          </p:nvSpPr>
          <p:spPr>
            <a:xfrm>
              <a:off x="8503920" y="3547872"/>
              <a:ext cx="1097280" cy="1481328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4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02</a:t>
              </a:r>
            </a:p>
          </p:txBody>
        </p:sp>
        <p:sp>
          <p:nvSpPr>
            <p:cNvPr id="113" name="Texto 113"/>
            <p:cNvSpPr txBox="1"/>
            <p:nvPr/>
          </p:nvSpPr>
          <p:spPr>
            <a:xfrm>
              <a:off x="9646920" y="3547872"/>
              <a:ext cx="6720840" cy="1481328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100" b="1">
                  <a:solidFill>
                    <a:srgbClr val="3E721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Cozinhe bem</a:t>
              </a:r>
              <a:r>
                <a:rPr lang="pt-BR" sz="21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 carnes, aves e ovos até o centro (acima de 70 °C); evite ovos crus ou com gema mole.</a:t>
              </a:r>
            </a:p>
          </p:txBody>
        </p:sp>
      </p:grpSp>
      <p:grpSp>
        <p:nvGrpSpPr>
          <p:cNvPr id="118" name="Item 118"/>
          <p:cNvGrpSpPr/>
          <p:nvPr/>
        </p:nvGrpSpPr>
        <p:grpSpPr>
          <a:xfrm>
            <a:off x="8229600" y="5257800"/>
            <a:ext cx="8412480" cy="1481328"/>
            <a:chOff x="8229600" y="5257800"/>
            <a:chExt cx="8412480" cy="1481328"/>
          </a:xfrm>
        </p:grpSpPr>
        <p:sp>
          <p:nvSpPr>
            <p:cNvPr id="115" name="Cartão 115"/>
            <p:cNvSpPr/>
            <p:nvPr/>
          </p:nvSpPr>
          <p:spPr>
            <a:xfrm>
              <a:off x="8229600" y="5257800"/>
              <a:ext cx="8412480" cy="1481328"/>
            </a:xfrm>
            <a:prstGeom prst="roundRect">
              <a:avLst>
                <a:gd name="adj" fmla="val 6172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6" name="Texto 116"/>
            <p:cNvSpPr txBox="1"/>
            <p:nvPr/>
          </p:nvSpPr>
          <p:spPr>
            <a:xfrm>
              <a:off x="8503920" y="5257800"/>
              <a:ext cx="1097280" cy="1481328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4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03</a:t>
              </a:r>
            </a:p>
          </p:txBody>
        </p:sp>
        <p:sp>
          <p:nvSpPr>
            <p:cNvPr id="117" name="Texto 117"/>
            <p:cNvSpPr txBox="1"/>
            <p:nvPr/>
          </p:nvSpPr>
          <p:spPr>
            <a:xfrm>
              <a:off x="9646920" y="5257800"/>
              <a:ext cx="6720840" cy="1481328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100" b="1">
                  <a:solidFill>
                    <a:srgbClr val="3E721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Separe crus e prontos</a:t>
              </a:r>
              <a:r>
                <a:rPr lang="pt-BR" sz="21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: higienize tábuas, facas e bancadas para evitar a contaminação cruzada.</a:t>
              </a:r>
            </a:p>
          </p:txBody>
        </p:sp>
      </p:grpSp>
      <p:grpSp>
        <p:nvGrpSpPr>
          <p:cNvPr id="122" name="Item 122"/>
          <p:cNvGrpSpPr/>
          <p:nvPr/>
        </p:nvGrpSpPr>
        <p:grpSpPr>
          <a:xfrm>
            <a:off x="8229600" y="6967728"/>
            <a:ext cx="8412480" cy="1481328"/>
            <a:chOff x="8229600" y="6967728"/>
            <a:chExt cx="8412480" cy="1481328"/>
          </a:xfrm>
        </p:grpSpPr>
        <p:sp>
          <p:nvSpPr>
            <p:cNvPr id="119" name="Cartão 119"/>
            <p:cNvSpPr/>
            <p:nvPr/>
          </p:nvSpPr>
          <p:spPr>
            <a:xfrm>
              <a:off x="8229600" y="6967728"/>
              <a:ext cx="8412480" cy="1481328"/>
            </a:xfrm>
            <a:prstGeom prst="roundRect">
              <a:avLst>
                <a:gd name="adj" fmla="val 6172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20" name="Texto 120"/>
            <p:cNvSpPr txBox="1"/>
            <p:nvPr/>
          </p:nvSpPr>
          <p:spPr>
            <a:xfrm>
              <a:off x="8503920" y="6967728"/>
              <a:ext cx="1097280" cy="1481328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4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04</a:t>
              </a:r>
            </a:p>
          </p:txBody>
        </p:sp>
        <p:sp>
          <p:nvSpPr>
            <p:cNvPr id="121" name="Texto 121"/>
            <p:cNvSpPr txBox="1"/>
            <p:nvPr/>
          </p:nvSpPr>
          <p:spPr>
            <a:xfrm>
              <a:off x="9646920" y="6967728"/>
              <a:ext cx="6720840" cy="1481328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100" b="1">
                  <a:solidFill>
                    <a:srgbClr val="3E721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Conserve na geladeira</a:t>
              </a:r>
              <a:r>
                <a:rPr lang="pt-BR" sz="21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 (abaixo de 5 °C) e use apenas água tratada e leite pasteurizado.</a:t>
              </a: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  <p:bldP spid="106" grpId="0"/>
    </p:bldLst>
  </p:timing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86402">
            <a:off x="-522939" y="-367883"/>
            <a:ext cx="3377819" cy="2794377"/>
          </a:xfrm>
          <a:custGeom>
            <a:avLst/>
            <a:gdLst/>
            <a:ahLst/>
            <a:cxnLst/>
            <a:rect r="r" b="b" t="t" l="l"/>
            <a:pathLst>
              <a:path h="2794377" w="3377819">
                <a:moveTo>
                  <a:pt x="0" y="0"/>
                </a:moveTo>
                <a:lnTo>
                  <a:pt x="3377819" y="0"/>
                </a:lnTo>
                <a:lnTo>
                  <a:pt x="3377819" y="2794377"/>
                </a:lnTo>
                <a:lnTo>
                  <a:pt x="0" y="27943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493517">
            <a:off x="15427516" y="7870636"/>
            <a:ext cx="3377819" cy="2794377"/>
          </a:xfrm>
          <a:custGeom>
            <a:avLst/>
            <a:gdLst/>
            <a:ahLst/>
            <a:cxnLst/>
            <a:rect r="r" b="b" t="t" l="l"/>
            <a:pathLst>
              <a:path h="2794377" w="3377819">
                <a:moveTo>
                  <a:pt x="3377818" y="2794378"/>
                </a:moveTo>
                <a:lnTo>
                  <a:pt x="0" y="2794378"/>
                </a:lnTo>
                <a:lnTo>
                  <a:pt x="0" y="0"/>
                </a:lnTo>
                <a:lnTo>
                  <a:pt x="3377818" y="0"/>
                </a:lnTo>
                <a:lnTo>
                  <a:pt x="3377818" y="2794378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11420">
            <a:off x="-1223133" y="7592707"/>
            <a:ext cx="3922436" cy="3922436"/>
          </a:xfrm>
          <a:custGeom>
            <a:avLst/>
            <a:gdLst/>
            <a:ahLst/>
            <a:cxnLst/>
            <a:rect r="r" b="b" t="t" l="l"/>
            <a:pathLst>
              <a:path h="3922436" w="3922436">
                <a:moveTo>
                  <a:pt x="0" y="0"/>
                </a:moveTo>
                <a:lnTo>
                  <a:pt x="3922436" y="0"/>
                </a:lnTo>
                <a:lnTo>
                  <a:pt x="3922436" y="3922436"/>
                </a:lnTo>
                <a:lnTo>
                  <a:pt x="0" y="3922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1317334">
            <a:off x="15593357" y="-1229411"/>
            <a:ext cx="3922436" cy="3922436"/>
          </a:xfrm>
          <a:custGeom>
            <a:avLst/>
            <a:gdLst/>
            <a:ahLst/>
            <a:cxnLst/>
            <a:rect r="r" b="b" t="t" l="l"/>
            <a:pathLst>
              <a:path h="3922436" w="3922436">
                <a:moveTo>
                  <a:pt x="3922436" y="3922436"/>
                </a:moveTo>
                <a:lnTo>
                  <a:pt x="0" y="3922436"/>
                </a:lnTo>
                <a:lnTo>
                  <a:pt x="0" y="0"/>
                </a:lnTo>
                <a:lnTo>
                  <a:pt x="3922436" y="0"/>
                </a:lnTo>
                <a:lnTo>
                  <a:pt x="3922436" y="3922436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302437">
            <a:off x="1854647" y="8837398"/>
            <a:ext cx="2867640" cy="2400454"/>
          </a:xfrm>
          <a:custGeom>
            <a:avLst/>
            <a:gdLst/>
            <a:ahLst/>
            <a:cxnLst/>
            <a:rect r="r" b="b" t="t" l="l"/>
            <a:pathLst>
              <a:path h="2400454" w="2867640">
                <a:moveTo>
                  <a:pt x="2867641" y="2400454"/>
                </a:moveTo>
                <a:lnTo>
                  <a:pt x="0" y="2400454"/>
                </a:lnTo>
                <a:lnTo>
                  <a:pt x="0" y="0"/>
                </a:lnTo>
                <a:lnTo>
                  <a:pt x="2867641" y="0"/>
                </a:lnTo>
                <a:lnTo>
                  <a:pt x="2867641" y="2400454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02437">
            <a:off x="13568501" y="-789560"/>
            <a:ext cx="2867640" cy="2400454"/>
          </a:xfrm>
          <a:custGeom>
            <a:avLst/>
            <a:gdLst/>
            <a:ahLst/>
            <a:cxnLst/>
            <a:rect r="r" b="b" t="t" l="l"/>
            <a:pathLst>
              <a:path h="2400454" w="2867640">
                <a:moveTo>
                  <a:pt x="0" y="0"/>
                </a:moveTo>
                <a:lnTo>
                  <a:pt x="2867640" y="0"/>
                </a:lnTo>
                <a:lnTo>
                  <a:pt x="2867640" y="2400454"/>
                </a:lnTo>
                <a:lnTo>
                  <a:pt x="0" y="24004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2272826" y="-512289"/>
            <a:ext cx="1682856" cy="1845911"/>
          </a:xfrm>
          <a:custGeom>
            <a:avLst/>
            <a:gdLst/>
            <a:ahLst/>
            <a:cxnLst/>
            <a:rect r="r" b="b" t="t" l="l"/>
            <a:pathLst>
              <a:path h="1845911" w="1682856">
                <a:moveTo>
                  <a:pt x="1682856" y="1845912"/>
                </a:moveTo>
                <a:lnTo>
                  <a:pt x="0" y="1845912"/>
                </a:lnTo>
                <a:lnTo>
                  <a:pt x="0" y="0"/>
                </a:lnTo>
                <a:lnTo>
                  <a:pt x="1682856" y="0"/>
                </a:lnTo>
                <a:lnTo>
                  <a:pt x="1682856" y="1845912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326046" y="8951105"/>
            <a:ext cx="1682856" cy="1845911"/>
          </a:xfrm>
          <a:custGeom>
            <a:avLst/>
            <a:gdLst/>
            <a:ahLst/>
            <a:cxnLst/>
            <a:rect r="r" b="b" t="t" l="l"/>
            <a:pathLst>
              <a:path h="1845911" w="1682856">
                <a:moveTo>
                  <a:pt x="0" y="0"/>
                </a:moveTo>
                <a:lnTo>
                  <a:pt x="1682856" y="0"/>
                </a:lnTo>
                <a:lnTo>
                  <a:pt x="1682856" y="1845911"/>
                </a:lnTo>
                <a:lnTo>
                  <a:pt x="0" y="18459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017940">
            <a:off x="16670810" y="5992839"/>
            <a:ext cx="2647083" cy="2021409"/>
          </a:xfrm>
          <a:custGeom>
            <a:avLst/>
            <a:gdLst/>
            <a:ahLst/>
            <a:cxnLst/>
            <a:rect r="r" b="b" t="t" l="l"/>
            <a:pathLst>
              <a:path h="2021409" w="2647083">
                <a:moveTo>
                  <a:pt x="0" y="0"/>
                </a:moveTo>
                <a:lnTo>
                  <a:pt x="2647083" y="0"/>
                </a:lnTo>
                <a:lnTo>
                  <a:pt x="2647083" y="2021408"/>
                </a:lnTo>
                <a:lnTo>
                  <a:pt x="0" y="20214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-2017940">
            <a:off x="-1031598" y="2271015"/>
            <a:ext cx="2647083" cy="2021409"/>
          </a:xfrm>
          <a:custGeom>
            <a:avLst/>
            <a:gdLst/>
            <a:ahLst/>
            <a:cxnLst/>
            <a:rect r="r" b="b" t="t" l="l"/>
            <a:pathLst>
              <a:path h="2021409" w="2647083">
                <a:moveTo>
                  <a:pt x="2647082" y="2021408"/>
                </a:moveTo>
                <a:lnTo>
                  <a:pt x="0" y="2021408"/>
                </a:lnTo>
                <a:lnTo>
                  <a:pt x="0" y="0"/>
                </a:lnTo>
                <a:lnTo>
                  <a:pt x="2647082" y="0"/>
                </a:lnTo>
                <a:lnTo>
                  <a:pt x="2647082" y="2021408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75609" y="519578"/>
            <a:ext cx="17136781" cy="9247843"/>
            <a:chOff x="0" y="0"/>
            <a:chExt cx="4513391" cy="24356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13391" cy="2435646"/>
            </a:xfrm>
            <a:custGeom>
              <a:avLst/>
              <a:gdLst/>
              <a:ahLst/>
              <a:cxnLst/>
              <a:rect r="r" b="b" t="t" l="l"/>
              <a:pathLst>
                <a:path h="2435646" w="4513391">
                  <a:moveTo>
                    <a:pt x="16264" y="0"/>
                  </a:moveTo>
                  <a:lnTo>
                    <a:pt x="4497127" y="0"/>
                  </a:lnTo>
                  <a:cubicBezTo>
                    <a:pt x="4506109" y="0"/>
                    <a:pt x="4513391" y="7282"/>
                    <a:pt x="4513391" y="16264"/>
                  </a:cubicBezTo>
                  <a:lnTo>
                    <a:pt x="4513391" y="2419382"/>
                  </a:lnTo>
                  <a:cubicBezTo>
                    <a:pt x="4513391" y="2428364"/>
                    <a:pt x="4506109" y="2435646"/>
                    <a:pt x="4497127" y="2435646"/>
                  </a:cubicBezTo>
                  <a:lnTo>
                    <a:pt x="16264" y="2435646"/>
                  </a:lnTo>
                  <a:cubicBezTo>
                    <a:pt x="7282" y="2435646"/>
                    <a:pt x="0" y="2428364"/>
                    <a:pt x="0" y="2419382"/>
                  </a:cubicBezTo>
                  <a:lnTo>
                    <a:pt x="0" y="16264"/>
                  </a:lnTo>
                  <a:cubicBezTo>
                    <a:pt x="0" y="7282"/>
                    <a:pt x="7282" y="0"/>
                    <a:pt x="16264" y="0"/>
                  </a:cubicBezTo>
                  <a:close/>
                </a:path>
              </a:pathLst>
            </a:custGeom>
            <a:solidFill>
              <a:srgbClr val="EAEAEA">
                <a:alpha val="84706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513391" cy="2483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id="101" name="Cabeçalho 101"/>
          <p:cNvSpPr txBox="1"/>
          <p:nvPr/>
        </p:nvSpPr>
        <p:spPr>
          <a:xfrm>
            <a:off x="1024128" y="932688"/>
            <a:ext cx="1353312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 xml:space="preserve">Apresentado por  </a:t>
            </a:r>
            <a:r>
              <a:rPr lang="pt-BR" sz="1900" b="1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Matheus Rosa, Gabriely Paixão, Yvana Lopes, Milena Vitória e Myriam Caires</a:t>
            </a:r>
          </a:p>
        </p:txBody>
      </p:sp>
      <p:sp>
        <p:nvSpPr>
          <p:cNvPr id="102" name="Ano 102"/>
          <p:cNvSpPr txBox="1"/>
          <p:nvPr/>
        </p:nvSpPr>
        <p:spPr>
          <a:xfrm>
            <a:off x="15453360" y="932688"/>
            <a:ext cx="181051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spc="400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2026</a:t>
            </a:r>
          </a:p>
        </p:txBody>
      </p:sp>
      <p:sp>
        <p:nvSpPr>
          <p:cNvPr id="103" name="Rodapé 103"/>
          <p:cNvSpPr txBox="1"/>
          <p:nvPr/>
        </p:nvSpPr>
        <p:spPr>
          <a:xfrm>
            <a:off x="1024128" y="8887968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>Microbiologia  |  Salmonella</a:t>
            </a:r>
          </a:p>
        </p:txBody>
      </p:sp>
      <p:sp>
        <p:nvSpPr>
          <p:cNvPr id="104" name="Página 104"/>
          <p:cNvSpPr txBox="1"/>
          <p:nvPr/>
        </p:nvSpPr>
        <p:spPr>
          <a:xfrm>
            <a:off x="13624560" y="8887968"/>
            <a:ext cx="363931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 spc="400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PÁGINA 12</a:t>
            </a:r>
          </a:p>
        </p:txBody>
      </p:sp>
      <p:sp>
        <p:nvSpPr>
          <p:cNvPr id="105" name="Título 105"/>
          <p:cNvSpPr txBox="1"/>
          <p:nvPr/>
        </p:nvSpPr>
        <p:spPr>
          <a:xfrm>
            <a:off x="1828800" y="1691640"/>
            <a:ext cx="14630400" cy="12801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0">
                <a:solidFill>
                  <a:srgbClr val="3E721D"/>
                </a:solidFill>
                <a:latin typeface="Lilita One"/>
                <a:ea typeface="Lilita One"/>
                <a:cs typeface="Lilita One"/>
                <a:sym typeface="Lilita One"/>
              </a:rPr>
              <a:t>PREVENÇÃO NA COMUNIDADE</a:t>
            </a:r>
          </a:p>
        </p:txBody>
      </p:sp>
      <p:grpSp>
        <p:nvGrpSpPr>
          <p:cNvPr id="109" name="Cartão 109"/>
          <p:cNvGrpSpPr/>
          <p:nvPr/>
        </p:nvGrpSpPr>
        <p:grpSpPr>
          <a:xfrm>
            <a:off x="1920240" y="3383280"/>
            <a:ext cx="4526280" cy="4754880"/>
            <a:chOff x="1920240" y="3383280"/>
            <a:chExt cx="4526280" cy="4754880"/>
          </a:xfrm>
        </p:grpSpPr>
        <p:sp>
          <p:nvSpPr>
            <p:cNvPr id="106" name="Cartão 106"/>
            <p:cNvSpPr/>
            <p:nvPr/>
          </p:nvSpPr>
          <p:spPr>
            <a:xfrm>
              <a:off x="1920240" y="3383280"/>
              <a:ext cx="4526280" cy="4754880"/>
            </a:xfrm>
            <a:prstGeom prst="roundRect">
              <a:avLst>
                <a:gd name="adj" fmla="val 2020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7" name="Texto 107"/>
            <p:cNvSpPr txBox="1"/>
            <p:nvPr/>
          </p:nvSpPr>
          <p:spPr>
            <a:xfrm>
              <a:off x="2240280" y="3657600"/>
              <a:ext cx="1463040" cy="82296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54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01</a:t>
              </a:r>
            </a:p>
          </p:txBody>
        </p:sp>
        <p:sp>
          <p:nvSpPr>
            <p:cNvPr id="108" name="Texto 108"/>
            <p:cNvSpPr txBox="1"/>
            <p:nvPr/>
          </p:nvSpPr>
          <p:spPr>
            <a:xfrm>
              <a:off x="2240280" y="4572000"/>
              <a:ext cx="3886200" cy="342900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pt-BR" sz="28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Saneamento básico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2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Água tratada e esgoto coletado interrompem a transmissão fecal-oral, principal via da febre tifoide.</a:t>
              </a:r>
            </a:p>
          </p:txBody>
        </p:sp>
      </p:grpSp>
      <p:grpSp>
        <p:nvGrpSpPr>
          <p:cNvPr id="113" name="Cartão 113"/>
          <p:cNvGrpSpPr/>
          <p:nvPr/>
        </p:nvGrpSpPr>
        <p:grpSpPr>
          <a:xfrm>
            <a:off x="6858000" y="3383280"/>
            <a:ext cx="4526280" cy="4754880"/>
            <a:chOff x="6858000" y="3383280"/>
            <a:chExt cx="4526280" cy="4754880"/>
          </a:xfrm>
        </p:grpSpPr>
        <p:sp>
          <p:nvSpPr>
            <p:cNvPr id="110" name="Cartão 110"/>
            <p:cNvSpPr/>
            <p:nvPr/>
          </p:nvSpPr>
          <p:spPr>
            <a:xfrm>
              <a:off x="6858000" y="3383280"/>
              <a:ext cx="4526280" cy="4754880"/>
            </a:xfrm>
            <a:prstGeom prst="roundRect">
              <a:avLst>
                <a:gd name="adj" fmla="val 2020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1" name="Texto 111"/>
            <p:cNvSpPr txBox="1"/>
            <p:nvPr/>
          </p:nvSpPr>
          <p:spPr>
            <a:xfrm>
              <a:off x="7178040" y="3657600"/>
              <a:ext cx="1463040" cy="82296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54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02</a:t>
              </a:r>
            </a:p>
          </p:txBody>
        </p:sp>
        <p:sp>
          <p:nvSpPr>
            <p:cNvPr id="112" name="Texto 112"/>
            <p:cNvSpPr txBox="1"/>
            <p:nvPr/>
          </p:nvSpPr>
          <p:spPr>
            <a:xfrm>
              <a:off x="7178040" y="4572000"/>
              <a:ext cx="3886200" cy="342900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pt-BR" sz="28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Vacinação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2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Há vacinas contra a febre tifoide para viajantes e áreas de risco. Na avicultura, vacinar as aves reduz a bactéria em ovos e carnes.</a:t>
              </a:r>
            </a:p>
          </p:txBody>
        </p:sp>
      </p:grpSp>
      <p:grpSp>
        <p:nvGrpSpPr>
          <p:cNvPr id="117" name="Cartão 117"/>
          <p:cNvGrpSpPr/>
          <p:nvPr/>
        </p:nvGrpSpPr>
        <p:grpSpPr>
          <a:xfrm>
            <a:off x="11795760" y="3383280"/>
            <a:ext cx="4526280" cy="4754880"/>
            <a:chOff x="11795760" y="3383280"/>
            <a:chExt cx="4526280" cy="4754880"/>
          </a:xfrm>
        </p:grpSpPr>
        <p:sp>
          <p:nvSpPr>
            <p:cNvPr id="114" name="Cartão 114"/>
            <p:cNvSpPr/>
            <p:nvPr/>
          </p:nvSpPr>
          <p:spPr>
            <a:xfrm>
              <a:off x="11795760" y="3383280"/>
              <a:ext cx="4526280" cy="4754880"/>
            </a:xfrm>
            <a:prstGeom prst="roundRect">
              <a:avLst>
                <a:gd name="adj" fmla="val 2020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5" name="Texto 115"/>
            <p:cNvSpPr txBox="1"/>
            <p:nvPr/>
          </p:nvSpPr>
          <p:spPr>
            <a:xfrm>
              <a:off x="12115800" y="3657600"/>
              <a:ext cx="1463040" cy="82296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54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03</a:t>
              </a:r>
            </a:p>
          </p:txBody>
        </p:sp>
        <p:sp>
          <p:nvSpPr>
            <p:cNvPr id="116" name="Texto 116"/>
            <p:cNvSpPr txBox="1"/>
            <p:nvPr/>
          </p:nvSpPr>
          <p:spPr>
            <a:xfrm>
              <a:off x="12115800" y="4572000"/>
              <a:ext cx="3886200" cy="342900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pt-BR" sz="2800">
                  <a:solidFill>
                    <a:srgbClr val="3E721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Vigilância sanitária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2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Fiscalização de alimentos, boas práticas na indústria e notificação de surtos ajudam a identificar e conter a doença.</a:t>
              </a: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</p:bldLst>
  </p:timing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86402">
            <a:off x="-522939" y="-367883"/>
            <a:ext cx="3377819" cy="2794377"/>
          </a:xfrm>
          <a:custGeom>
            <a:avLst/>
            <a:gdLst/>
            <a:ahLst/>
            <a:cxnLst/>
            <a:rect r="r" b="b" t="t" l="l"/>
            <a:pathLst>
              <a:path h="2794377" w="3377819">
                <a:moveTo>
                  <a:pt x="0" y="0"/>
                </a:moveTo>
                <a:lnTo>
                  <a:pt x="3377819" y="0"/>
                </a:lnTo>
                <a:lnTo>
                  <a:pt x="3377819" y="2794377"/>
                </a:lnTo>
                <a:lnTo>
                  <a:pt x="0" y="27943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493517">
            <a:off x="15427516" y="7870636"/>
            <a:ext cx="3377819" cy="2794377"/>
          </a:xfrm>
          <a:custGeom>
            <a:avLst/>
            <a:gdLst/>
            <a:ahLst/>
            <a:cxnLst/>
            <a:rect r="r" b="b" t="t" l="l"/>
            <a:pathLst>
              <a:path h="2794377" w="3377819">
                <a:moveTo>
                  <a:pt x="3377818" y="2794378"/>
                </a:moveTo>
                <a:lnTo>
                  <a:pt x="0" y="2794378"/>
                </a:lnTo>
                <a:lnTo>
                  <a:pt x="0" y="0"/>
                </a:lnTo>
                <a:lnTo>
                  <a:pt x="3377818" y="0"/>
                </a:lnTo>
                <a:lnTo>
                  <a:pt x="3377818" y="2794378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11420">
            <a:off x="-1223133" y="7592707"/>
            <a:ext cx="3922436" cy="3922436"/>
          </a:xfrm>
          <a:custGeom>
            <a:avLst/>
            <a:gdLst/>
            <a:ahLst/>
            <a:cxnLst/>
            <a:rect r="r" b="b" t="t" l="l"/>
            <a:pathLst>
              <a:path h="3922436" w="3922436">
                <a:moveTo>
                  <a:pt x="0" y="0"/>
                </a:moveTo>
                <a:lnTo>
                  <a:pt x="3922436" y="0"/>
                </a:lnTo>
                <a:lnTo>
                  <a:pt x="3922436" y="3922436"/>
                </a:lnTo>
                <a:lnTo>
                  <a:pt x="0" y="3922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1317334">
            <a:off x="15593357" y="-1229411"/>
            <a:ext cx="3922436" cy="3922436"/>
          </a:xfrm>
          <a:custGeom>
            <a:avLst/>
            <a:gdLst/>
            <a:ahLst/>
            <a:cxnLst/>
            <a:rect r="r" b="b" t="t" l="l"/>
            <a:pathLst>
              <a:path h="3922436" w="3922436">
                <a:moveTo>
                  <a:pt x="3922436" y="3922436"/>
                </a:moveTo>
                <a:lnTo>
                  <a:pt x="0" y="3922436"/>
                </a:lnTo>
                <a:lnTo>
                  <a:pt x="0" y="0"/>
                </a:lnTo>
                <a:lnTo>
                  <a:pt x="3922436" y="0"/>
                </a:lnTo>
                <a:lnTo>
                  <a:pt x="3922436" y="3922436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302437">
            <a:off x="1854647" y="8837398"/>
            <a:ext cx="2867640" cy="2400454"/>
          </a:xfrm>
          <a:custGeom>
            <a:avLst/>
            <a:gdLst/>
            <a:ahLst/>
            <a:cxnLst/>
            <a:rect r="r" b="b" t="t" l="l"/>
            <a:pathLst>
              <a:path h="2400454" w="2867640">
                <a:moveTo>
                  <a:pt x="2867641" y="2400454"/>
                </a:moveTo>
                <a:lnTo>
                  <a:pt x="0" y="2400454"/>
                </a:lnTo>
                <a:lnTo>
                  <a:pt x="0" y="0"/>
                </a:lnTo>
                <a:lnTo>
                  <a:pt x="2867641" y="0"/>
                </a:lnTo>
                <a:lnTo>
                  <a:pt x="2867641" y="2400454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02437">
            <a:off x="13568501" y="-789560"/>
            <a:ext cx="2867640" cy="2400454"/>
          </a:xfrm>
          <a:custGeom>
            <a:avLst/>
            <a:gdLst/>
            <a:ahLst/>
            <a:cxnLst/>
            <a:rect r="r" b="b" t="t" l="l"/>
            <a:pathLst>
              <a:path h="2400454" w="2867640">
                <a:moveTo>
                  <a:pt x="0" y="0"/>
                </a:moveTo>
                <a:lnTo>
                  <a:pt x="2867640" y="0"/>
                </a:lnTo>
                <a:lnTo>
                  <a:pt x="2867640" y="2400454"/>
                </a:lnTo>
                <a:lnTo>
                  <a:pt x="0" y="24004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2272826" y="-512289"/>
            <a:ext cx="1682856" cy="1845911"/>
          </a:xfrm>
          <a:custGeom>
            <a:avLst/>
            <a:gdLst/>
            <a:ahLst/>
            <a:cxnLst/>
            <a:rect r="r" b="b" t="t" l="l"/>
            <a:pathLst>
              <a:path h="1845911" w="1682856">
                <a:moveTo>
                  <a:pt x="1682856" y="1845912"/>
                </a:moveTo>
                <a:lnTo>
                  <a:pt x="0" y="1845912"/>
                </a:lnTo>
                <a:lnTo>
                  <a:pt x="0" y="0"/>
                </a:lnTo>
                <a:lnTo>
                  <a:pt x="1682856" y="0"/>
                </a:lnTo>
                <a:lnTo>
                  <a:pt x="1682856" y="1845912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326046" y="8951105"/>
            <a:ext cx="1682856" cy="1845911"/>
          </a:xfrm>
          <a:custGeom>
            <a:avLst/>
            <a:gdLst/>
            <a:ahLst/>
            <a:cxnLst/>
            <a:rect r="r" b="b" t="t" l="l"/>
            <a:pathLst>
              <a:path h="1845911" w="1682856">
                <a:moveTo>
                  <a:pt x="0" y="0"/>
                </a:moveTo>
                <a:lnTo>
                  <a:pt x="1682856" y="0"/>
                </a:lnTo>
                <a:lnTo>
                  <a:pt x="1682856" y="1845911"/>
                </a:lnTo>
                <a:lnTo>
                  <a:pt x="0" y="18459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017940">
            <a:off x="16670810" y="5992839"/>
            <a:ext cx="2647083" cy="2021409"/>
          </a:xfrm>
          <a:custGeom>
            <a:avLst/>
            <a:gdLst/>
            <a:ahLst/>
            <a:cxnLst/>
            <a:rect r="r" b="b" t="t" l="l"/>
            <a:pathLst>
              <a:path h="2021409" w="2647083">
                <a:moveTo>
                  <a:pt x="0" y="0"/>
                </a:moveTo>
                <a:lnTo>
                  <a:pt x="2647083" y="0"/>
                </a:lnTo>
                <a:lnTo>
                  <a:pt x="2647083" y="2021408"/>
                </a:lnTo>
                <a:lnTo>
                  <a:pt x="0" y="20214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-2017940">
            <a:off x="-1031598" y="2271015"/>
            <a:ext cx="2647083" cy="2021409"/>
          </a:xfrm>
          <a:custGeom>
            <a:avLst/>
            <a:gdLst/>
            <a:ahLst/>
            <a:cxnLst/>
            <a:rect r="r" b="b" t="t" l="l"/>
            <a:pathLst>
              <a:path h="2021409" w="2647083">
                <a:moveTo>
                  <a:pt x="2647082" y="2021408"/>
                </a:moveTo>
                <a:lnTo>
                  <a:pt x="0" y="2021408"/>
                </a:lnTo>
                <a:lnTo>
                  <a:pt x="0" y="0"/>
                </a:lnTo>
                <a:lnTo>
                  <a:pt x="2647082" y="0"/>
                </a:lnTo>
                <a:lnTo>
                  <a:pt x="2647082" y="2021408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75609" y="519578"/>
            <a:ext cx="17136781" cy="9247843"/>
            <a:chOff x="0" y="0"/>
            <a:chExt cx="4513391" cy="24356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13391" cy="2435646"/>
            </a:xfrm>
            <a:custGeom>
              <a:avLst/>
              <a:gdLst/>
              <a:ahLst/>
              <a:cxnLst/>
              <a:rect r="r" b="b" t="t" l="l"/>
              <a:pathLst>
                <a:path h="2435646" w="4513391">
                  <a:moveTo>
                    <a:pt x="16264" y="0"/>
                  </a:moveTo>
                  <a:lnTo>
                    <a:pt x="4497127" y="0"/>
                  </a:lnTo>
                  <a:cubicBezTo>
                    <a:pt x="4506109" y="0"/>
                    <a:pt x="4513391" y="7282"/>
                    <a:pt x="4513391" y="16264"/>
                  </a:cubicBezTo>
                  <a:lnTo>
                    <a:pt x="4513391" y="2419382"/>
                  </a:lnTo>
                  <a:cubicBezTo>
                    <a:pt x="4513391" y="2428364"/>
                    <a:pt x="4506109" y="2435646"/>
                    <a:pt x="4497127" y="2435646"/>
                  </a:cubicBezTo>
                  <a:lnTo>
                    <a:pt x="16264" y="2435646"/>
                  </a:lnTo>
                  <a:cubicBezTo>
                    <a:pt x="7282" y="2435646"/>
                    <a:pt x="0" y="2428364"/>
                    <a:pt x="0" y="2419382"/>
                  </a:cubicBezTo>
                  <a:lnTo>
                    <a:pt x="0" y="16264"/>
                  </a:lnTo>
                  <a:cubicBezTo>
                    <a:pt x="0" y="7282"/>
                    <a:pt x="7282" y="0"/>
                    <a:pt x="16264" y="0"/>
                  </a:cubicBezTo>
                  <a:close/>
                </a:path>
              </a:pathLst>
            </a:custGeom>
            <a:solidFill>
              <a:srgbClr val="EAEAEA">
                <a:alpha val="84706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513391" cy="2483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id="101" name="Cabeçalho 101"/>
          <p:cNvSpPr txBox="1"/>
          <p:nvPr/>
        </p:nvSpPr>
        <p:spPr>
          <a:xfrm>
            <a:off x="1024128" y="932688"/>
            <a:ext cx="1353312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 xml:space="preserve">Apresentado por  </a:t>
            </a:r>
            <a:r>
              <a:rPr lang="pt-BR" sz="1900" b="1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Matheus Rosa, Gabriely Paixão, Yvana Lopes, Milena Vitória e Myriam Caires</a:t>
            </a:r>
          </a:p>
        </p:txBody>
      </p:sp>
      <p:sp>
        <p:nvSpPr>
          <p:cNvPr id="102" name="Ano 102"/>
          <p:cNvSpPr txBox="1"/>
          <p:nvPr/>
        </p:nvSpPr>
        <p:spPr>
          <a:xfrm>
            <a:off x="15453360" y="932688"/>
            <a:ext cx="181051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spc="400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2026</a:t>
            </a:r>
          </a:p>
        </p:txBody>
      </p:sp>
      <p:sp>
        <p:nvSpPr>
          <p:cNvPr id="103" name="Rodapé 103"/>
          <p:cNvSpPr txBox="1"/>
          <p:nvPr/>
        </p:nvSpPr>
        <p:spPr>
          <a:xfrm>
            <a:off x="1024128" y="8887968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>Microbiologia  |  Salmonella</a:t>
            </a:r>
          </a:p>
        </p:txBody>
      </p:sp>
      <p:sp>
        <p:nvSpPr>
          <p:cNvPr id="104" name="Página 104"/>
          <p:cNvSpPr txBox="1"/>
          <p:nvPr/>
        </p:nvSpPr>
        <p:spPr>
          <a:xfrm>
            <a:off x="13624560" y="8887968"/>
            <a:ext cx="363931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 spc="400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PÁGINA 13</a:t>
            </a:r>
          </a:p>
        </p:txBody>
      </p:sp>
      <p:sp>
        <p:nvSpPr>
          <p:cNvPr id="105" name="Título 105"/>
          <p:cNvSpPr txBox="1"/>
          <p:nvPr/>
        </p:nvSpPr>
        <p:spPr>
          <a:xfrm>
            <a:off x="2286000" y="2148840"/>
            <a:ext cx="13716000" cy="1371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>
                <a:solidFill>
                  <a:srgbClr val="3E721D"/>
                </a:solidFill>
                <a:latin typeface="Lilita One"/>
                <a:ea typeface="Lilita One"/>
                <a:cs typeface="Lilita One"/>
                <a:sym typeface="Lilita One"/>
              </a:rPr>
              <a:t>CONCLUSÃO</a:t>
            </a:r>
          </a:p>
        </p:txBody>
      </p:sp>
      <p:sp>
        <p:nvSpPr>
          <p:cNvPr id="106" name="Texto 106"/>
          <p:cNvSpPr txBox="1"/>
          <p:nvPr/>
        </p:nvSpPr>
        <p:spPr>
          <a:xfrm>
            <a:off x="3017520" y="3840480"/>
            <a:ext cx="12252960" cy="23774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 xml:space="preserve">A </a:t>
            </a:r>
            <a:r>
              <a:rPr lang="pt-BR" sz="2700" i="1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>Salmonella</a:t>
            </a:r>
            <a:r>
              <a:rPr lang="pt-BR" sz="27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 xml:space="preserve"> é uma bactéria comum e muito importante para a saúde pública. Conhecer sua classificação, as doenças que causa e como é transmitida é o primeiro passo para a prevenção.</a:t>
            </a:r>
          </a:p>
        </p:txBody>
      </p:sp>
      <p:grpSp>
        <p:nvGrpSpPr>
          <p:cNvPr id="113" name="Destaques 113"/>
          <p:cNvGrpSpPr/>
          <p:nvPr/>
        </p:nvGrpSpPr>
        <p:grpSpPr>
          <a:xfrm>
            <a:off x="2651760" y="6172200"/>
            <a:ext cx="12984480" cy="868680"/>
            <a:chOff x="2651760" y="6172200"/>
            <a:chExt cx="12984480" cy="868680"/>
          </a:xfrm>
        </p:grpSpPr>
        <p:sp>
          <p:nvSpPr>
            <p:cNvPr id="107" name="Cartão 107"/>
            <p:cNvSpPr/>
            <p:nvPr/>
          </p:nvSpPr>
          <p:spPr>
            <a:xfrm>
              <a:off x="2651760" y="6172200"/>
              <a:ext cx="4114800" cy="868680"/>
            </a:xfrm>
            <a:prstGeom prst="roundRect">
              <a:avLst>
                <a:gd name="adj" fmla="val 50000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8" name="Texto 108"/>
            <p:cNvSpPr txBox="1"/>
            <p:nvPr/>
          </p:nvSpPr>
          <p:spPr>
            <a:xfrm>
              <a:off x="2651760" y="6172200"/>
              <a:ext cx="4114800" cy="868680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100" b="1">
                  <a:solidFill>
                    <a:srgbClr val="3E721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Higiene</a:t>
              </a:r>
            </a:p>
          </p:txBody>
        </p:sp>
        <p:sp>
          <p:nvSpPr>
            <p:cNvPr id="109" name="Cartão 109"/>
            <p:cNvSpPr/>
            <p:nvPr/>
          </p:nvSpPr>
          <p:spPr>
            <a:xfrm>
              <a:off x="7086600" y="6172200"/>
              <a:ext cx="4114800" cy="868680"/>
            </a:xfrm>
            <a:prstGeom prst="roundRect">
              <a:avLst>
                <a:gd name="adj" fmla="val 50000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0" name="Texto 110"/>
            <p:cNvSpPr txBox="1"/>
            <p:nvPr/>
          </p:nvSpPr>
          <p:spPr>
            <a:xfrm>
              <a:off x="7086600" y="6172200"/>
              <a:ext cx="4114800" cy="868680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100" b="1">
                  <a:solidFill>
                    <a:srgbClr val="3E721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Cozimento adequado</a:t>
              </a:r>
            </a:p>
          </p:txBody>
        </p:sp>
        <p:sp>
          <p:nvSpPr>
            <p:cNvPr id="111" name="Cartão 111"/>
            <p:cNvSpPr/>
            <p:nvPr/>
          </p:nvSpPr>
          <p:spPr>
            <a:xfrm>
              <a:off x="11521440" y="6172200"/>
              <a:ext cx="4114800" cy="868680"/>
            </a:xfrm>
            <a:prstGeom prst="roundRect">
              <a:avLst>
                <a:gd name="adj" fmla="val 50000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2" name="Texto 112"/>
            <p:cNvSpPr txBox="1"/>
            <p:nvPr/>
          </p:nvSpPr>
          <p:spPr>
            <a:xfrm>
              <a:off x="11521440" y="6172200"/>
              <a:ext cx="4114800" cy="868680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100" b="1">
                  <a:solidFill>
                    <a:srgbClr val="3E721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Água tratada</a:t>
              </a: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  <p:bldP spid="106" grpId="0"/>
    </p:bldLst>
  </p:timing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86402">
            <a:off x="-522939" y="-367883"/>
            <a:ext cx="3377819" cy="2794377"/>
          </a:xfrm>
          <a:custGeom>
            <a:avLst/>
            <a:gdLst/>
            <a:ahLst/>
            <a:cxnLst/>
            <a:rect r="r" b="b" t="t" l="l"/>
            <a:pathLst>
              <a:path h="2794377" w="3377819">
                <a:moveTo>
                  <a:pt x="0" y="0"/>
                </a:moveTo>
                <a:lnTo>
                  <a:pt x="3377819" y="0"/>
                </a:lnTo>
                <a:lnTo>
                  <a:pt x="3377819" y="2794377"/>
                </a:lnTo>
                <a:lnTo>
                  <a:pt x="0" y="27943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493517">
            <a:off x="15427516" y="7870636"/>
            <a:ext cx="3377819" cy="2794377"/>
          </a:xfrm>
          <a:custGeom>
            <a:avLst/>
            <a:gdLst/>
            <a:ahLst/>
            <a:cxnLst/>
            <a:rect r="r" b="b" t="t" l="l"/>
            <a:pathLst>
              <a:path h="2794377" w="3377819">
                <a:moveTo>
                  <a:pt x="3377818" y="2794378"/>
                </a:moveTo>
                <a:lnTo>
                  <a:pt x="0" y="2794378"/>
                </a:lnTo>
                <a:lnTo>
                  <a:pt x="0" y="0"/>
                </a:lnTo>
                <a:lnTo>
                  <a:pt x="3377818" y="0"/>
                </a:lnTo>
                <a:lnTo>
                  <a:pt x="3377818" y="2794378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11420">
            <a:off x="-1223133" y="7592707"/>
            <a:ext cx="3922436" cy="3922436"/>
          </a:xfrm>
          <a:custGeom>
            <a:avLst/>
            <a:gdLst/>
            <a:ahLst/>
            <a:cxnLst/>
            <a:rect r="r" b="b" t="t" l="l"/>
            <a:pathLst>
              <a:path h="3922436" w="3922436">
                <a:moveTo>
                  <a:pt x="0" y="0"/>
                </a:moveTo>
                <a:lnTo>
                  <a:pt x="3922436" y="0"/>
                </a:lnTo>
                <a:lnTo>
                  <a:pt x="3922436" y="3922436"/>
                </a:lnTo>
                <a:lnTo>
                  <a:pt x="0" y="3922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1317334">
            <a:off x="15593357" y="-1229411"/>
            <a:ext cx="3922436" cy="3922436"/>
          </a:xfrm>
          <a:custGeom>
            <a:avLst/>
            <a:gdLst/>
            <a:ahLst/>
            <a:cxnLst/>
            <a:rect r="r" b="b" t="t" l="l"/>
            <a:pathLst>
              <a:path h="3922436" w="3922436">
                <a:moveTo>
                  <a:pt x="3922436" y="3922436"/>
                </a:moveTo>
                <a:lnTo>
                  <a:pt x="0" y="3922436"/>
                </a:lnTo>
                <a:lnTo>
                  <a:pt x="0" y="0"/>
                </a:lnTo>
                <a:lnTo>
                  <a:pt x="3922436" y="0"/>
                </a:lnTo>
                <a:lnTo>
                  <a:pt x="3922436" y="3922436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302437">
            <a:off x="1854647" y="8837398"/>
            <a:ext cx="2867640" cy="2400454"/>
          </a:xfrm>
          <a:custGeom>
            <a:avLst/>
            <a:gdLst/>
            <a:ahLst/>
            <a:cxnLst/>
            <a:rect r="r" b="b" t="t" l="l"/>
            <a:pathLst>
              <a:path h="2400454" w="2867640">
                <a:moveTo>
                  <a:pt x="2867641" y="2400454"/>
                </a:moveTo>
                <a:lnTo>
                  <a:pt x="0" y="2400454"/>
                </a:lnTo>
                <a:lnTo>
                  <a:pt x="0" y="0"/>
                </a:lnTo>
                <a:lnTo>
                  <a:pt x="2867641" y="0"/>
                </a:lnTo>
                <a:lnTo>
                  <a:pt x="2867641" y="2400454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02437">
            <a:off x="13568501" y="-789560"/>
            <a:ext cx="2867640" cy="2400454"/>
          </a:xfrm>
          <a:custGeom>
            <a:avLst/>
            <a:gdLst/>
            <a:ahLst/>
            <a:cxnLst/>
            <a:rect r="r" b="b" t="t" l="l"/>
            <a:pathLst>
              <a:path h="2400454" w="2867640">
                <a:moveTo>
                  <a:pt x="0" y="0"/>
                </a:moveTo>
                <a:lnTo>
                  <a:pt x="2867640" y="0"/>
                </a:lnTo>
                <a:lnTo>
                  <a:pt x="2867640" y="2400454"/>
                </a:lnTo>
                <a:lnTo>
                  <a:pt x="0" y="24004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2272826" y="-512289"/>
            <a:ext cx="1682856" cy="1845911"/>
          </a:xfrm>
          <a:custGeom>
            <a:avLst/>
            <a:gdLst/>
            <a:ahLst/>
            <a:cxnLst/>
            <a:rect r="r" b="b" t="t" l="l"/>
            <a:pathLst>
              <a:path h="1845911" w="1682856">
                <a:moveTo>
                  <a:pt x="1682856" y="1845912"/>
                </a:moveTo>
                <a:lnTo>
                  <a:pt x="0" y="1845912"/>
                </a:lnTo>
                <a:lnTo>
                  <a:pt x="0" y="0"/>
                </a:lnTo>
                <a:lnTo>
                  <a:pt x="1682856" y="0"/>
                </a:lnTo>
                <a:lnTo>
                  <a:pt x="1682856" y="1845912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326046" y="8951105"/>
            <a:ext cx="1682856" cy="1845911"/>
          </a:xfrm>
          <a:custGeom>
            <a:avLst/>
            <a:gdLst/>
            <a:ahLst/>
            <a:cxnLst/>
            <a:rect r="r" b="b" t="t" l="l"/>
            <a:pathLst>
              <a:path h="1845911" w="1682856">
                <a:moveTo>
                  <a:pt x="0" y="0"/>
                </a:moveTo>
                <a:lnTo>
                  <a:pt x="1682856" y="0"/>
                </a:lnTo>
                <a:lnTo>
                  <a:pt x="1682856" y="1845911"/>
                </a:lnTo>
                <a:lnTo>
                  <a:pt x="0" y="18459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017940">
            <a:off x="16670810" y="5992839"/>
            <a:ext cx="2647083" cy="2021409"/>
          </a:xfrm>
          <a:custGeom>
            <a:avLst/>
            <a:gdLst/>
            <a:ahLst/>
            <a:cxnLst/>
            <a:rect r="r" b="b" t="t" l="l"/>
            <a:pathLst>
              <a:path h="2021409" w="2647083">
                <a:moveTo>
                  <a:pt x="0" y="0"/>
                </a:moveTo>
                <a:lnTo>
                  <a:pt x="2647083" y="0"/>
                </a:lnTo>
                <a:lnTo>
                  <a:pt x="2647083" y="2021408"/>
                </a:lnTo>
                <a:lnTo>
                  <a:pt x="0" y="20214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-2017940">
            <a:off x="-1031598" y="2271015"/>
            <a:ext cx="2647083" cy="2021409"/>
          </a:xfrm>
          <a:custGeom>
            <a:avLst/>
            <a:gdLst/>
            <a:ahLst/>
            <a:cxnLst/>
            <a:rect r="r" b="b" t="t" l="l"/>
            <a:pathLst>
              <a:path h="2021409" w="2647083">
                <a:moveTo>
                  <a:pt x="2647082" y="2021408"/>
                </a:moveTo>
                <a:lnTo>
                  <a:pt x="0" y="2021408"/>
                </a:lnTo>
                <a:lnTo>
                  <a:pt x="0" y="0"/>
                </a:lnTo>
                <a:lnTo>
                  <a:pt x="2647082" y="0"/>
                </a:lnTo>
                <a:lnTo>
                  <a:pt x="2647082" y="2021408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75609" y="519578"/>
            <a:ext cx="17136781" cy="9247843"/>
            <a:chOff x="0" y="0"/>
            <a:chExt cx="4513391" cy="24356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13391" cy="2435646"/>
            </a:xfrm>
            <a:custGeom>
              <a:avLst/>
              <a:gdLst/>
              <a:ahLst/>
              <a:cxnLst/>
              <a:rect r="r" b="b" t="t" l="l"/>
              <a:pathLst>
                <a:path h="2435646" w="4513391">
                  <a:moveTo>
                    <a:pt x="16264" y="0"/>
                  </a:moveTo>
                  <a:lnTo>
                    <a:pt x="4497127" y="0"/>
                  </a:lnTo>
                  <a:cubicBezTo>
                    <a:pt x="4506109" y="0"/>
                    <a:pt x="4513391" y="7282"/>
                    <a:pt x="4513391" y="16264"/>
                  </a:cubicBezTo>
                  <a:lnTo>
                    <a:pt x="4513391" y="2419382"/>
                  </a:lnTo>
                  <a:cubicBezTo>
                    <a:pt x="4513391" y="2428364"/>
                    <a:pt x="4506109" y="2435646"/>
                    <a:pt x="4497127" y="2435646"/>
                  </a:cubicBezTo>
                  <a:lnTo>
                    <a:pt x="16264" y="2435646"/>
                  </a:lnTo>
                  <a:cubicBezTo>
                    <a:pt x="7282" y="2435646"/>
                    <a:pt x="0" y="2428364"/>
                    <a:pt x="0" y="2419382"/>
                  </a:cubicBezTo>
                  <a:lnTo>
                    <a:pt x="0" y="16264"/>
                  </a:lnTo>
                  <a:cubicBezTo>
                    <a:pt x="0" y="7282"/>
                    <a:pt x="7282" y="0"/>
                    <a:pt x="16264" y="0"/>
                  </a:cubicBezTo>
                  <a:close/>
                </a:path>
              </a:pathLst>
            </a:custGeom>
            <a:solidFill>
              <a:srgbClr val="EAEAEA">
                <a:alpha val="84706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513391" cy="2483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id="101" name="Cabeçalho 101"/>
          <p:cNvSpPr txBox="1"/>
          <p:nvPr/>
        </p:nvSpPr>
        <p:spPr>
          <a:xfrm>
            <a:off x="1024128" y="932688"/>
            <a:ext cx="1353312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 xml:space="preserve">Apresentado por  </a:t>
            </a:r>
            <a:r>
              <a:rPr lang="pt-BR" sz="1900" b="1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Matheus Rosa, Gabriely Paixão, Yvana Lopes, Milena Vitória e Myriam Caires</a:t>
            </a:r>
          </a:p>
        </p:txBody>
      </p:sp>
      <p:sp>
        <p:nvSpPr>
          <p:cNvPr id="102" name="Ano 102"/>
          <p:cNvSpPr txBox="1"/>
          <p:nvPr/>
        </p:nvSpPr>
        <p:spPr>
          <a:xfrm>
            <a:off x="15453360" y="932688"/>
            <a:ext cx="181051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spc="400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2026</a:t>
            </a:r>
          </a:p>
        </p:txBody>
      </p:sp>
      <p:sp>
        <p:nvSpPr>
          <p:cNvPr id="103" name="Rodapé 103"/>
          <p:cNvSpPr txBox="1"/>
          <p:nvPr/>
        </p:nvSpPr>
        <p:spPr>
          <a:xfrm>
            <a:off x="1024128" y="8887968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3E721D"/>
                </a:solidFill>
                <a:latin typeface="Garet"/>
                <a:ea typeface="Garet"/>
                <a:cs typeface="Garet"/>
                <a:sym typeface="Garet"/>
              </a:rPr>
              <a:t>Microbiologia  |  Salmonella</a:t>
            </a:r>
          </a:p>
        </p:txBody>
      </p:sp>
      <p:sp>
        <p:nvSpPr>
          <p:cNvPr id="104" name="Página 104"/>
          <p:cNvSpPr txBox="1"/>
          <p:nvPr/>
        </p:nvSpPr>
        <p:spPr>
          <a:xfrm>
            <a:off x="13624560" y="8887968"/>
            <a:ext cx="363931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 spc="400">
                <a:solidFill>
                  <a:srgbClr val="3E721D"/>
                </a:solidFill>
                <a:latin typeface="Garet Bold"/>
                <a:ea typeface="Garet Bold"/>
                <a:cs typeface="Garet Bold"/>
                <a:sym typeface="Garet Bold"/>
              </a:rPr>
              <a:t>PÁGINA 14</a:t>
            </a:r>
          </a:p>
        </p:txBody>
      </p:sp>
      <p:sp>
        <p:nvSpPr>
          <p:cNvPr id="105" name="Título 105"/>
          <p:cNvSpPr txBox="1"/>
          <p:nvPr/>
        </p:nvSpPr>
        <p:spPr>
          <a:xfrm>
            <a:off x="1828800" y="1691640"/>
            <a:ext cx="14630400" cy="12801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800">
                <a:solidFill>
                  <a:srgbClr val="3E721D"/>
                </a:solidFill>
                <a:latin typeface="Lilita One"/>
                <a:ea typeface="Lilita One"/>
                <a:cs typeface="Lilita One"/>
                <a:sym typeface="Lilita One"/>
              </a:rPr>
              <a:t>REFERÊNCIAS</a:t>
            </a:r>
          </a:p>
        </p:txBody>
      </p:sp>
      <p:grpSp>
        <p:nvGrpSpPr>
          <p:cNvPr id="108" name="Referências 108"/>
          <p:cNvGrpSpPr/>
          <p:nvPr/>
        </p:nvGrpSpPr>
        <p:grpSpPr>
          <a:xfrm>
            <a:off x="1920240" y="3246120"/>
            <a:ext cx="14447520" cy="5029200"/>
            <a:chOff x="1920240" y="3246120"/>
            <a:chExt cx="14447520" cy="5029200"/>
          </a:xfrm>
        </p:grpSpPr>
        <p:sp>
          <p:nvSpPr>
            <p:cNvPr id="106" name="Cartão 106"/>
            <p:cNvSpPr/>
            <p:nvPr/>
          </p:nvSpPr>
          <p:spPr>
            <a:xfrm>
              <a:off x="1920240" y="3246120"/>
              <a:ext cx="14447520" cy="5029200"/>
            </a:xfrm>
            <a:prstGeom prst="roundRect">
              <a:avLst>
                <a:gd name="adj" fmla="val 1818"/>
              </a:avLst>
            </a:prstGeom>
            <a:solidFill>
              <a:srgbClr val="E0E1C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7" name="Texto 107"/>
            <p:cNvSpPr txBox="1"/>
            <p:nvPr/>
          </p:nvSpPr>
          <p:spPr>
            <a:xfrm>
              <a:off x="2331720" y="3246120"/>
              <a:ext cx="13624560" cy="5029200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pt-BR" sz="20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BRASIL. Ministério da Saúde. </a:t>
              </a:r>
              <a:r>
                <a:rPr lang="pt-BR" sz="2000" b="1">
                  <a:solidFill>
                    <a:srgbClr val="3E721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Febre tifoide</a:t>
              </a:r>
              <a:r>
                <a:rPr lang="pt-BR" sz="20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 e </a:t>
              </a:r>
              <a:r>
                <a:rPr lang="pt-BR" sz="2000" b="1">
                  <a:solidFill>
                    <a:srgbClr val="3E721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Doenças de transmissão hídrica e alimentar (DTHA)</a:t>
              </a:r>
              <a:r>
                <a:rPr lang="pt-BR" sz="20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. Saúde de A a Z. Brasília: Ministério da Saúde.</a:t>
              </a:r>
            </a:p>
            <a:p>
              <a:pPr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pt-BR" sz="20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MAJOWICZ, S. E. </a:t>
              </a:r>
              <a:r>
                <a:rPr lang="pt-BR" sz="2000" i="1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et al.</a:t>
              </a:r>
              <a:r>
                <a:rPr lang="pt-BR" sz="20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 The global burden of nontyphoidal </a:t>
              </a:r>
              <a:r>
                <a:rPr lang="pt-BR" sz="2000" i="1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Salmonella</a:t>
              </a:r>
              <a:r>
                <a:rPr lang="pt-BR" sz="20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 gastroenteritis. </a:t>
              </a:r>
              <a:r>
                <a:rPr lang="pt-BR" sz="2000" b="1">
                  <a:solidFill>
                    <a:srgbClr val="3E721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Clinical Infectious Diseases</a:t>
              </a:r>
              <a:r>
                <a:rPr lang="pt-BR" sz="20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, v. 50, n. 6, p. 882-889, 2010.</a:t>
              </a:r>
            </a:p>
            <a:p>
              <a:pPr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pt-BR" sz="20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TORTORA, G. J.; FUNKE, B. R.; CASE, C. L. </a:t>
              </a:r>
              <a:r>
                <a:rPr lang="pt-BR" sz="2000" b="1">
                  <a:solidFill>
                    <a:srgbClr val="3E721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Microbiologia</a:t>
              </a:r>
              <a:r>
                <a:rPr lang="pt-BR" sz="20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. 12. ed. Porto Alegre: Artmed, 2017.</a:t>
              </a:r>
            </a:p>
            <a:p>
              <a:pPr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pt-BR" sz="20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WORLD HEALTH ORGANIZATION. </a:t>
              </a:r>
              <a:r>
                <a:rPr lang="pt-BR" sz="2000" b="1">
                  <a:solidFill>
                    <a:srgbClr val="3E721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Salmonella (non-typhoidal)</a:t>
              </a:r>
              <a:r>
                <a:rPr lang="pt-BR" sz="20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. Fact sheet. Genebra: WHO, 2018.</a:t>
              </a:r>
            </a:p>
            <a:p>
              <a:pPr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pt-BR" sz="20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WORLD HEALTH ORGANIZATION. </a:t>
              </a:r>
              <a:r>
                <a:rPr lang="pt-BR" sz="2000" b="1">
                  <a:solidFill>
                    <a:srgbClr val="3E721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Typhoid</a:t>
              </a:r>
              <a:r>
                <a:rPr lang="pt-BR" sz="20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. Fact sheet. Genebra: WHO, 2023.</a:t>
              </a:r>
            </a:p>
            <a:p>
              <a:pPr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pt-BR" sz="20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 xml:space="preserve">WORLD HEALTH ORGANIZATION. </a:t>
              </a:r>
              <a:r>
                <a:rPr lang="pt-BR" sz="2000" b="1">
                  <a:solidFill>
                    <a:srgbClr val="3E721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Cinco chaves para uma alimentação mais segura</a:t>
              </a:r>
              <a:r>
                <a:rPr lang="pt-BR" sz="200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: manual. Genebra: WHO, 2006.</a:t>
              </a: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</p:bldLst>
  </p:timing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54738" y="1029305"/>
            <a:ext cx="14778524" cy="8228389"/>
            <a:chOff x="0" y="0"/>
            <a:chExt cx="3892286" cy="21671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92286" cy="2167148"/>
            </a:xfrm>
            <a:custGeom>
              <a:avLst/>
              <a:gdLst/>
              <a:ahLst/>
              <a:cxnLst/>
              <a:rect r="r" b="b" t="t" l="l"/>
              <a:pathLst>
                <a:path h="2167148" w="3892286">
                  <a:moveTo>
                    <a:pt x="15192" y="0"/>
                  </a:moveTo>
                  <a:lnTo>
                    <a:pt x="3877094" y="0"/>
                  </a:lnTo>
                  <a:cubicBezTo>
                    <a:pt x="3885485" y="0"/>
                    <a:pt x="3892286" y="6802"/>
                    <a:pt x="3892286" y="15192"/>
                  </a:cubicBezTo>
                  <a:lnTo>
                    <a:pt x="3892286" y="2151956"/>
                  </a:lnTo>
                  <a:cubicBezTo>
                    <a:pt x="3892286" y="2155985"/>
                    <a:pt x="3890685" y="2159849"/>
                    <a:pt x="3887836" y="2162698"/>
                  </a:cubicBezTo>
                  <a:cubicBezTo>
                    <a:pt x="3884987" y="2165547"/>
                    <a:pt x="3881123" y="2167148"/>
                    <a:pt x="3877094" y="2167148"/>
                  </a:cubicBezTo>
                  <a:lnTo>
                    <a:pt x="15192" y="2167148"/>
                  </a:lnTo>
                  <a:cubicBezTo>
                    <a:pt x="6802" y="2167148"/>
                    <a:pt x="0" y="2160346"/>
                    <a:pt x="0" y="2151956"/>
                  </a:cubicBezTo>
                  <a:lnTo>
                    <a:pt x="0" y="15192"/>
                  </a:lnTo>
                  <a:cubicBezTo>
                    <a:pt x="0" y="6802"/>
                    <a:pt x="6802" y="0"/>
                    <a:pt x="15192" y="0"/>
                  </a:cubicBezTo>
                  <a:close/>
                </a:path>
              </a:pathLst>
            </a:custGeom>
            <a:ln w="38100" cap="rnd">
              <a:solidFill>
                <a:srgbClr val="AAC85A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892286" cy="22147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486402">
            <a:off x="-522939" y="-367883"/>
            <a:ext cx="3377819" cy="2794377"/>
          </a:xfrm>
          <a:custGeom>
            <a:avLst/>
            <a:gdLst/>
            <a:ahLst/>
            <a:cxnLst/>
            <a:rect r="r" b="b" t="t" l="l"/>
            <a:pathLst>
              <a:path h="2794377" w="3377819">
                <a:moveTo>
                  <a:pt x="0" y="0"/>
                </a:moveTo>
                <a:lnTo>
                  <a:pt x="3377819" y="0"/>
                </a:lnTo>
                <a:lnTo>
                  <a:pt x="3377819" y="2794377"/>
                </a:lnTo>
                <a:lnTo>
                  <a:pt x="0" y="27943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493517">
            <a:off x="15427516" y="7870636"/>
            <a:ext cx="3377819" cy="2794377"/>
          </a:xfrm>
          <a:custGeom>
            <a:avLst/>
            <a:gdLst/>
            <a:ahLst/>
            <a:cxnLst/>
            <a:rect r="r" b="b" t="t" l="l"/>
            <a:pathLst>
              <a:path h="2794377" w="3377819">
                <a:moveTo>
                  <a:pt x="3377818" y="2794378"/>
                </a:moveTo>
                <a:lnTo>
                  <a:pt x="0" y="2794378"/>
                </a:lnTo>
                <a:lnTo>
                  <a:pt x="0" y="0"/>
                </a:lnTo>
                <a:lnTo>
                  <a:pt x="3377818" y="0"/>
                </a:lnTo>
                <a:lnTo>
                  <a:pt x="3377818" y="2794378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311420">
            <a:off x="-1223133" y="7592707"/>
            <a:ext cx="3922436" cy="3922436"/>
          </a:xfrm>
          <a:custGeom>
            <a:avLst/>
            <a:gdLst/>
            <a:ahLst/>
            <a:cxnLst/>
            <a:rect r="r" b="b" t="t" l="l"/>
            <a:pathLst>
              <a:path h="3922436" w="3922436">
                <a:moveTo>
                  <a:pt x="0" y="0"/>
                </a:moveTo>
                <a:lnTo>
                  <a:pt x="3922436" y="0"/>
                </a:lnTo>
                <a:lnTo>
                  <a:pt x="3922436" y="3922436"/>
                </a:lnTo>
                <a:lnTo>
                  <a:pt x="0" y="3922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1317334">
            <a:off x="15593357" y="-1229411"/>
            <a:ext cx="3922436" cy="3922436"/>
          </a:xfrm>
          <a:custGeom>
            <a:avLst/>
            <a:gdLst/>
            <a:ahLst/>
            <a:cxnLst/>
            <a:rect r="r" b="b" t="t" l="l"/>
            <a:pathLst>
              <a:path h="3922436" w="3922436">
                <a:moveTo>
                  <a:pt x="3922436" y="3922436"/>
                </a:moveTo>
                <a:lnTo>
                  <a:pt x="0" y="3922436"/>
                </a:lnTo>
                <a:lnTo>
                  <a:pt x="0" y="0"/>
                </a:lnTo>
                <a:lnTo>
                  <a:pt x="3922436" y="0"/>
                </a:lnTo>
                <a:lnTo>
                  <a:pt x="3922436" y="3922436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302437">
            <a:off x="1854647" y="8837398"/>
            <a:ext cx="2867640" cy="2400454"/>
          </a:xfrm>
          <a:custGeom>
            <a:avLst/>
            <a:gdLst/>
            <a:ahLst/>
            <a:cxnLst/>
            <a:rect r="r" b="b" t="t" l="l"/>
            <a:pathLst>
              <a:path h="2400454" w="2867640">
                <a:moveTo>
                  <a:pt x="2867641" y="2400454"/>
                </a:moveTo>
                <a:lnTo>
                  <a:pt x="0" y="2400454"/>
                </a:lnTo>
                <a:lnTo>
                  <a:pt x="0" y="0"/>
                </a:lnTo>
                <a:lnTo>
                  <a:pt x="2867641" y="0"/>
                </a:lnTo>
                <a:lnTo>
                  <a:pt x="2867641" y="2400454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302437">
            <a:off x="13568501" y="-789560"/>
            <a:ext cx="2867640" cy="2400454"/>
          </a:xfrm>
          <a:custGeom>
            <a:avLst/>
            <a:gdLst/>
            <a:ahLst/>
            <a:cxnLst/>
            <a:rect r="r" b="b" t="t" l="l"/>
            <a:pathLst>
              <a:path h="2400454" w="2867640">
                <a:moveTo>
                  <a:pt x="0" y="0"/>
                </a:moveTo>
                <a:lnTo>
                  <a:pt x="2867640" y="0"/>
                </a:lnTo>
                <a:lnTo>
                  <a:pt x="2867640" y="2400454"/>
                </a:lnTo>
                <a:lnTo>
                  <a:pt x="0" y="24004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2272826" y="-512289"/>
            <a:ext cx="1682856" cy="1845911"/>
          </a:xfrm>
          <a:custGeom>
            <a:avLst/>
            <a:gdLst/>
            <a:ahLst/>
            <a:cxnLst/>
            <a:rect r="r" b="b" t="t" l="l"/>
            <a:pathLst>
              <a:path h="1845911" w="1682856">
                <a:moveTo>
                  <a:pt x="1682856" y="1845912"/>
                </a:moveTo>
                <a:lnTo>
                  <a:pt x="0" y="1845912"/>
                </a:lnTo>
                <a:lnTo>
                  <a:pt x="0" y="0"/>
                </a:lnTo>
                <a:lnTo>
                  <a:pt x="1682856" y="0"/>
                </a:lnTo>
                <a:lnTo>
                  <a:pt x="1682856" y="1845912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326046" y="8951105"/>
            <a:ext cx="1682856" cy="1845911"/>
          </a:xfrm>
          <a:custGeom>
            <a:avLst/>
            <a:gdLst/>
            <a:ahLst/>
            <a:cxnLst/>
            <a:rect r="r" b="b" t="t" l="l"/>
            <a:pathLst>
              <a:path h="1845911" w="1682856">
                <a:moveTo>
                  <a:pt x="0" y="0"/>
                </a:moveTo>
                <a:lnTo>
                  <a:pt x="1682856" y="0"/>
                </a:lnTo>
                <a:lnTo>
                  <a:pt x="1682856" y="1845911"/>
                </a:lnTo>
                <a:lnTo>
                  <a:pt x="0" y="18459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2017940">
            <a:off x="16670810" y="5992839"/>
            <a:ext cx="2647083" cy="2021409"/>
          </a:xfrm>
          <a:custGeom>
            <a:avLst/>
            <a:gdLst/>
            <a:ahLst/>
            <a:cxnLst/>
            <a:rect r="r" b="b" t="t" l="l"/>
            <a:pathLst>
              <a:path h="2021409" w="2647083">
                <a:moveTo>
                  <a:pt x="0" y="0"/>
                </a:moveTo>
                <a:lnTo>
                  <a:pt x="2647083" y="0"/>
                </a:lnTo>
                <a:lnTo>
                  <a:pt x="2647083" y="2021408"/>
                </a:lnTo>
                <a:lnTo>
                  <a:pt x="0" y="20214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true" rot="-2017940">
            <a:off x="-1031598" y="2271015"/>
            <a:ext cx="2647083" cy="2021409"/>
          </a:xfrm>
          <a:custGeom>
            <a:avLst/>
            <a:gdLst/>
            <a:ahLst/>
            <a:cxnLst/>
            <a:rect r="r" b="b" t="t" l="l"/>
            <a:pathLst>
              <a:path h="2021409" w="2647083">
                <a:moveTo>
                  <a:pt x="2647082" y="2021408"/>
                </a:moveTo>
                <a:lnTo>
                  <a:pt x="0" y="2021408"/>
                </a:lnTo>
                <a:lnTo>
                  <a:pt x="0" y="0"/>
                </a:lnTo>
                <a:lnTo>
                  <a:pt x="2647082" y="0"/>
                </a:lnTo>
                <a:lnTo>
                  <a:pt x="2647082" y="2021408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id="103" name="Etiqueta 103"/>
          <p:cNvGrpSpPr/>
          <p:nvPr/>
        </p:nvGrpSpPr>
        <p:grpSpPr>
          <a:xfrm>
            <a:off x="7040880" y="2606040"/>
            <a:ext cx="4206240" cy="658368"/>
            <a:chOff x="7040880" y="2606040"/>
            <a:chExt cx="4206240" cy="658368"/>
          </a:xfrm>
        </p:grpSpPr>
        <p:sp>
          <p:nvSpPr>
            <p:cNvPr id="101" name="Etiqueta 101"/>
            <p:cNvSpPr/>
            <p:nvPr/>
          </p:nvSpPr>
          <p:spPr>
            <a:xfrm>
              <a:off x="7040880" y="2606040"/>
              <a:ext cx="4206240" cy="658368"/>
            </a:xfrm>
            <a:prstGeom prst="roundRect">
              <a:avLst>
                <a:gd name="adj" fmla="val 50000"/>
              </a:avLst>
            </a:prstGeom>
            <a:solidFill>
              <a:srgbClr val="E0E1C8">
                <a:alpha val="56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2" name="Texto 102"/>
            <p:cNvSpPr txBox="1"/>
            <p:nvPr/>
          </p:nvSpPr>
          <p:spPr>
            <a:xfrm>
              <a:off x="7040880" y="2606040"/>
              <a:ext cx="4206240" cy="658368"/>
            </a:xfrm>
            <a:prstGeom prst="rect">
              <a:avLst/>
            </a:prstGeom>
            <a:noFill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spc="36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SALMONELLA</a:t>
              </a:r>
            </a:p>
          </p:txBody>
        </p:sp>
      </p:grpSp>
      <p:sp>
        <p:nvSpPr>
          <p:cNvPr id="104" name="Título 104"/>
          <p:cNvSpPr txBox="1"/>
          <p:nvPr/>
        </p:nvSpPr>
        <p:spPr>
          <a:xfrm>
            <a:off x="2194560" y="3383280"/>
            <a:ext cx="13898880" cy="201168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0">
                <a:solidFill>
                  <a:srgbClr val="3E721D"/>
                </a:solidFill>
                <a:latin typeface="Lilita One"/>
                <a:ea typeface="Lilita One"/>
                <a:cs typeface="Lilita One"/>
                <a:sym typeface="Lilita One"/>
              </a:rPr>
              <a:t>OBRIGADO!</a:t>
            </a:r>
          </a:p>
        </p:txBody>
      </p:sp>
      <p:sp>
        <p:nvSpPr>
          <p:cNvPr id="105" name="Subtítulo 105"/>
          <p:cNvSpPr txBox="1"/>
          <p:nvPr/>
        </p:nvSpPr>
        <p:spPr>
          <a:xfrm>
            <a:off x="3108960" y="5486400"/>
            <a:ext cx="12070080" cy="548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>
                <a:solidFill>
                  <a:srgbClr val="3E721D"/>
                </a:solidFill>
                <a:latin typeface="Garet Light"/>
                <a:ea typeface="Garet Light"/>
                <a:cs typeface="Garet Light"/>
                <a:sym typeface="Garet Light"/>
              </a:rPr>
              <a:t>Prevenir é simples: higiene, cozimento adequado e água tratada.</a:t>
            </a:r>
          </a:p>
        </p:txBody>
      </p:sp>
      <p:grpSp>
        <p:nvGrpSpPr>
          <p:cNvPr id="108" name="Integrantes 108"/>
          <p:cNvGrpSpPr/>
          <p:nvPr/>
        </p:nvGrpSpPr>
        <p:grpSpPr>
          <a:xfrm>
            <a:off x="2194560" y="6446520"/>
            <a:ext cx="13898880" cy="868680"/>
            <a:chOff x="2194560" y="6446520"/>
            <a:chExt cx="13898880" cy="868680"/>
          </a:xfrm>
        </p:grpSpPr>
        <p:sp>
          <p:nvSpPr>
            <p:cNvPr id="106" name="Texto 106"/>
            <p:cNvSpPr txBox="1"/>
            <p:nvPr/>
          </p:nvSpPr>
          <p:spPr>
            <a:xfrm>
              <a:off x="2743200" y="6446520"/>
              <a:ext cx="12801600" cy="36576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 spc="360">
                  <a:solidFill>
                    <a:srgbClr val="3E721D"/>
                  </a:solidFill>
                  <a:latin typeface="Garet"/>
                  <a:ea typeface="Garet"/>
                  <a:cs typeface="Garet"/>
                  <a:sym typeface="Garet"/>
                </a:rPr>
                <a:t>APRESENTADO POR</a:t>
              </a:r>
            </a:p>
          </p:txBody>
        </p:sp>
        <p:sp>
          <p:nvSpPr>
            <p:cNvPr id="107" name="Texto 107"/>
            <p:cNvSpPr txBox="1"/>
            <p:nvPr/>
          </p:nvSpPr>
          <p:spPr>
            <a:xfrm>
              <a:off x="2194560" y="6858000"/>
              <a:ext cx="13898880" cy="45720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100" b="1">
                  <a:solidFill>
                    <a:srgbClr val="3E721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Matheus Rosa  •  Gabriely Paixão  •  Yvana Lopes  •  Milena Vitória  •  Myriam Caires</a:t>
              </a: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10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DAHWe0YJYPc</dc:identifier>
  <dcterms:modified xsi:type="dcterms:W3CDTF">2011-08-01T06:04:30Z</dcterms:modified>
  <cp:revision>1</cp:revision>
  <dc:title>Salmonella: taxonomia, doenças e prevenção</dc:title>
  <dc:creator>Matheus Rosa, Gabriely Paixão, Yvana Lopes, Milena Vitória, Myriam Caires</dc:creator>
</cp:coreProperties>
</file>